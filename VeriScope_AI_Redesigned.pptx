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1371600"/>
            <a:ext cx="5029200" cy="5029200"/>
          </a:xfrm>
          <a:prstGeom prst="ellipse">
            <a:avLst/>
          </a:prstGeom>
          <a:solidFill>
            <a:srgbClr val="0E1930"/>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961120" y="-640080"/>
            <a:ext cx="3566160" cy="3566160"/>
          </a:xfrm>
          <a:prstGeom prst="ellipse">
            <a:avLst/>
          </a:prstGeom>
          <a:solidFill>
            <a:srgbClr val="0A1324"/>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914400"/>
            <a:ext cx="4114800" cy="347472"/>
          </a:xfrm>
          <a:prstGeom prst="roundRect">
            <a:avLst/>
          </a:prstGeom>
          <a:solidFill>
            <a:srgbClr val="111C33"/>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F2FE"/>
                </a:solidFill>
                <a:latin typeface="Arial"/>
              </a:defRPr>
            </a:pPr>
            <a:r>
              <a:t>INTEGRATED CAPSTONE PROJECT REPORT  •  2026</a:t>
            </a:r>
          </a:p>
        </p:txBody>
      </p:sp>
      <p:sp>
        <p:nvSpPr>
          <p:cNvPr id="6" name="TextBox 5"/>
          <p:cNvSpPr txBox="1"/>
          <p:nvPr/>
        </p:nvSpPr>
        <p:spPr>
          <a:xfrm>
            <a:off x="914400" y="1417320"/>
            <a:ext cx="10058400" cy="1280160"/>
          </a:xfrm>
          <a:prstGeom prst="rect">
            <a:avLst/>
          </a:prstGeom>
          <a:noFill/>
        </p:spPr>
        <p:txBody>
          <a:bodyPr wrap="square" lIns="0" rIns="0" tIns="0" bIns="0">
            <a:spAutoFit/>
          </a:bodyPr>
          <a:lstStyle/>
          <a:p>
            <a:pPr>
              <a:defRPr sz="4400" b="1">
                <a:solidFill>
                  <a:srgbClr val="FFFFFF"/>
                </a:solidFill>
                <a:latin typeface="Arial"/>
              </a:defRPr>
            </a:pPr>
            <a:r>
              <a:t>VERISCOPE AI</a:t>
            </a:r>
          </a:p>
          <a:p>
            <a:pPr>
              <a:defRPr sz="2000" b="1">
                <a:solidFill>
                  <a:srgbClr val="00F2FE"/>
                </a:solidFill>
                <a:latin typeface="Arial"/>
              </a:defRPr>
            </a:pPr>
            <a:r>
              <a:t>Fake News Detection Using Explainable AI</a:t>
            </a:r>
          </a:p>
          <a:p>
            <a:pPr>
              <a:defRPr sz="1300" i="1">
                <a:solidFill>
                  <a:srgbClr val="94A3B8"/>
                </a:solidFill>
                <a:latin typeface="Arial"/>
              </a:defRPr>
            </a:pPr>
            <a:r>
              <a:t>Intelligence Beyond the Headline</a:t>
            </a:r>
          </a:p>
        </p:txBody>
      </p:sp>
      <p:sp>
        <p:nvSpPr>
          <p:cNvPr id="7" name="Rounded Rectangle 6"/>
          <p:cNvSpPr/>
          <p:nvPr/>
        </p:nvSpPr>
        <p:spPr>
          <a:xfrm>
            <a:off x="914400" y="3017520"/>
            <a:ext cx="10362895" cy="914400"/>
          </a:xfrm>
          <a:prstGeom prst="roundRect">
            <a:avLst/>
          </a:prstGeom>
          <a:solidFill>
            <a:srgbClr val="0D15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3108960"/>
            <a:ext cx="9966960" cy="731520"/>
          </a:xfrm>
          <a:prstGeom prst="rect">
            <a:avLst/>
          </a:prstGeom>
          <a:noFill/>
        </p:spPr>
        <p:txBody>
          <a:bodyPr wrap="square" lIns="0" rIns="0" tIns="0" bIns="0">
            <a:spAutoFit/>
          </a:bodyPr>
          <a:lstStyle/>
          <a:p>
            <a:pPr>
              <a:defRPr sz="1300" b="1">
                <a:solidFill>
                  <a:srgbClr val="FFFFFF"/>
                </a:solidFill>
                <a:latin typeface="Arial"/>
              </a:defRPr>
            </a:pPr>
            <a:r>
              <a:t>Master of Science in Artificial Intelligence and Data Analytics  (Semester IV)</a:t>
            </a:r>
          </a:p>
          <a:p>
            <a:pPr>
              <a:defRPr sz="1050">
                <a:solidFill>
                  <a:srgbClr val="38BDF8"/>
                </a:solidFill>
                <a:latin typeface="Arial"/>
              </a:defRPr>
            </a:pPr>
            <a:r>
              <a:t>Amity Institute of Information Technology  |  Amity University, Noida  |  Academic Year 2025–2026</a:t>
            </a:r>
          </a:p>
        </p:txBody>
      </p:sp>
      <p:sp>
        <p:nvSpPr>
          <p:cNvPr id="9" name="Rounded Rectangle 8"/>
          <p:cNvSpPr/>
          <p:nvPr/>
        </p:nvSpPr>
        <p:spPr>
          <a:xfrm>
            <a:off x="914400" y="4114800"/>
            <a:ext cx="10362895" cy="2011680"/>
          </a:xfrm>
          <a:prstGeom prst="roundRect">
            <a:avLst/>
          </a:prstGeom>
          <a:solidFill>
            <a:srgbClr val="111C33"/>
          </a:solidFill>
          <a:ln w="1524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206240"/>
            <a:ext cx="9966960" cy="1828800"/>
          </a:xfrm>
          <a:prstGeom prst="rect">
            <a:avLst/>
          </a:prstGeom>
          <a:noFill/>
        </p:spPr>
        <p:txBody>
          <a:bodyPr wrap="square" lIns="0" rIns="0" tIns="0" bIns="0">
            <a:spAutoFit/>
          </a:bodyPr>
          <a:lstStyle/>
          <a:p>
            <a:pPr>
              <a:defRPr sz="950" b="1">
                <a:solidFill>
                  <a:srgbClr val="00F2FE"/>
                </a:solidFill>
                <a:latin typeface="Arial"/>
              </a:defRPr>
            </a:pPr>
            <a:r>
              <a:t>PROJECT RESEARCH COHORT (ALL 5 MEMBERS)</a:t>
            </a:r>
          </a:p>
          <a:p>
            <a:pPr>
              <a:defRPr sz="950">
                <a:solidFill>
                  <a:srgbClr val="E2E8F0"/>
                </a:solidFill>
                <a:latin typeface="Arial"/>
              </a:defRPr>
            </a:pPr>
            <a:r>
              <a:t>•  1. Ayushman Kumar (A010175625019) — NLP Preprocessing &amp; Reference Corpus [PRESENTER]</a:t>
            </a:r>
          </a:p>
          <a:p>
            <a:pPr>
              <a:defRPr sz="950">
                <a:solidFill>
                  <a:srgbClr val="E2E8F0"/>
                </a:solidFill>
                <a:latin typeface="Arial"/>
              </a:defRPr>
            </a:pPr>
            <a:r>
              <a:t>•  2. Astha Thapa (A010175625014) — ML Classification &amp; Hyperparameters [PRESENTER]</a:t>
            </a:r>
          </a:p>
          <a:p>
            <a:pPr>
              <a:defRPr sz="950">
                <a:solidFill>
                  <a:srgbClr val="E2E8F0"/>
                </a:solidFill>
                <a:latin typeface="Arial"/>
              </a:defRPr>
            </a:pPr>
            <a:r>
              <a:t>•  3. Saloni Ganvir (A010175625017) — Explainable AI (LIME/SHAP) &amp; NLI [PRESENTER]</a:t>
            </a:r>
          </a:p>
          <a:p>
            <a:pPr>
              <a:defRPr sz="950">
                <a:solidFill>
                  <a:srgbClr val="E2E8F0"/>
                </a:solidFill>
                <a:latin typeface="Arial"/>
              </a:defRPr>
            </a:pPr>
            <a:r>
              <a:t>•  4. Sri Rinith (A010175625018) — Model Evaluation &amp; RL Bandit [PRESENTER]</a:t>
            </a:r>
          </a:p>
          <a:p>
            <a:pPr>
              <a:defRPr sz="950">
                <a:solidFill>
                  <a:srgbClr val="94A3B8"/>
                </a:solidFill>
                <a:latin typeface="Arial"/>
              </a:defRPr>
            </a:pPr>
            <a:r>
              <a:t>•  5. Sarvesh (A010175625016) — Editorial UI, Web App &amp; OCR [TEAM MEMBER — Non-Speaking Role]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rIns="0" tIns="0" bIns="0">
            <a:spAutoFit/>
          </a:bodyPr>
          <a:lstStyle/>
          <a:p>
            <a:pPr>
              <a:defRPr sz="950" b="1">
                <a:solidFill>
                  <a:srgbClr val="00F2FE"/>
                </a:solidFill>
                <a:latin typeface="Arial"/>
              </a:defRPr>
            </a:pPr>
            <a:r>
              <a:t>01 • PROJECT RESEARCH TEAM</a:t>
            </a:r>
          </a:p>
        </p:txBody>
      </p:sp>
      <p:sp>
        <p:nvSpPr>
          <p:cNvPr id="4" name="TextBox 3"/>
          <p:cNvSpPr txBox="1"/>
          <p:nvPr/>
        </p:nvSpPr>
        <p:spPr>
          <a:xfrm>
            <a:off x="731520" y="640080"/>
            <a:ext cx="10728655" cy="457200"/>
          </a:xfrm>
          <a:prstGeom prst="rect">
            <a:avLst/>
          </a:prstGeom>
          <a:noFill/>
        </p:spPr>
        <p:txBody>
          <a:bodyPr wrap="square" lIns="0" rIns="0" tIns="0" bIns="0">
            <a:spAutoFit/>
          </a:bodyPr>
          <a:lstStyle/>
          <a:p>
            <a:pPr>
              <a:defRPr sz="1900" b="1">
                <a:solidFill>
                  <a:srgbClr val="FFFFFF"/>
                </a:solidFill>
                <a:latin typeface="Arial"/>
              </a:defRPr>
            </a:pPr>
            <a:r>
              <a:t>Team Members, Specializations &amp; Technical Responsibilities</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050">
                <a:solidFill>
                  <a:srgbClr val="94A3B8"/>
                </a:solidFill>
                <a:latin typeface="Arial"/>
              </a:defRPr>
            </a:pPr>
            <a:r>
              <a:t>MSc AI &amp; Data Analytics Cohort — Complete Technical Ownership Across All Engineering Modules</a:t>
            </a:r>
          </a:p>
        </p:txBody>
      </p:sp>
      <p:sp>
        <p:nvSpPr>
          <p:cNvPr id="6" name="Rectangle 5"/>
          <p:cNvSpPr/>
          <p:nvPr/>
        </p:nvSpPr>
        <p:spPr>
          <a:xfrm>
            <a:off x="731520" y="1389888"/>
            <a:ext cx="10728655" cy="18288"/>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00200"/>
            <a:ext cx="2011680" cy="4846320"/>
          </a:xfrm>
          <a:prstGeom prst="roundRect">
            <a:avLst/>
          </a:prstGeom>
          <a:solidFill>
            <a:srgbClr val="0D1526"/>
          </a:solidFill>
          <a:ln w="1524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1737360"/>
            <a:ext cx="1792224" cy="4572000"/>
          </a:xfrm>
          <a:prstGeom prst="rect">
            <a:avLst/>
          </a:prstGeom>
          <a:noFill/>
        </p:spPr>
        <p:txBody>
          <a:bodyPr wrap="square" lIns="0" rIns="0" tIns="0" bIns="0">
            <a:spAutoFit/>
          </a:bodyPr>
          <a:lstStyle/>
          <a:p>
            <a:pPr>
              <a:defRPr sz="800" b="1">
                <a:solidFill>
                  <a:srgbClr val="00F2FE"/>
                </a:solidFill>
                <a:latin typeface="Arial"/>
              </a:defRPr>
            </a:pPr>
            <a:r>
              <a:t>PRESENTER</a:t>
            </a:r>
          </a:p>
          <a:p>
            <a:pPr>
              <a:defRPr sz="1200" b="1">
                <a:solidFill>
                  <a:srgbClr val="FFFFFF"/>
                </a:solidFill>
                <a:latin typeface="Arial"/>
              </a:defRPr>
            </a:pPr>
            <a:r>
              <a:t>Ayushman Kumar</a:t>
            </a:r>
          </a:p>
          <a:p>
            <a:pPr>
              <a:defRPr sz="850">
                <a:solidFill>
                  <a:srgbClr val="38BDF8"/>
                </a:solidFill>
                <a:latin typeface="Arial"/>
              </a:defRPr>
            </a:pPr>
            <a:r>
              <a:t>A010175625019</a:t>
            </a:r>
          </a:p>
          <a:p>
            <a:pPr>
              <a:defRPr sz="900" b="1">
                <a:solidFill>
                  <a:srgbClr val="A855F7"/>
                </a:solidFill>
                <a:latin typeface="Arial"/>
              </a:defRPr>
            </a:pPr>
            <a:r>
              <a:t>NLP Preprocessing &amp; Corpus</a:t>
            </a:r>
          </a:p>
          <a:p/>
          <a:p>
            <a:pPr>
              <a:defRPr sz="750" b="1">
                <a:solidFill>
                  <a:srgbClr val="64748B"/>
                </a:solidFill>
                <a:latin typeface="Arial"/>
              </a:defRPr>
            </a:pPr>
            <a:r>
              <a:t>CORE RESPONSIBILITIES:</a:t>
            </a:r>
          </a:p>
          <a:p>
            <a:pPr>
              <a:defRPr sz="800">
                <a:solidFill>
                  <a:srgbClr val="E2E8F0"/>
                </a:solidFill>
                <a:latin typeface="Arial"/>
              </a:defRPr>
            </a:pPr>
            <a:r>
              <a:t>• Sourced &amp; audited 44,898 ISOT articles</a:t>
            </a:r>
          </a:p>
          <a:p>
            <a:pPr>
              <a:defRPr sz="800">
                <a:solidFill>
                  <a:srgbClr val="E2E8F0"/>
                </a:solidFill>
                <a:latin typeface="Arial"/>
              </a:defRPr>
            </a:pPr>
            <a:r>
              <a:t>• Regex wire-tag eradication ('(Reuters)')</a:t>
            </a:r>
          </a:p>
          <a:p>
            <a:pPr>
              <a:defRPr sz="800">
                <a:solidFill>
                  <a:srgbClr val="E2E8F0"/>
                </a:solidFill>
                <a:latin typeface="Arial"/>
              </a:defRPr>
            </a:pPr>
            <a:r>
              <a:t>• Sublinear TF-IDF (5,000 max features)</a:t>
            </a:r>
          </a:p>
          <a:p>
            <a:pPr>
              <a:defRPr sz="800">
                <a:solidFill>
                  <a:srgbClr val="E2E8F0"/>
                </a:solidFill>
                <a:latin typeface="Arial"/>
              </a:defRPr>
            </a:pPr>
            <a:r>
              <a:t>• Stratified holdout group validation</a:t>
            </a:r>
          </a:p>
        </p:txBody>
      </p:sp>
      <p:sp>
        <p:nvSpPr>
          <p:cNvPr id="9" name="Rounded Rectangle 8"/>
          <p:cNvSpPr/>
          <p:nvPr/>
        </p:nvSpPr>
        <p:spPr>
          <a:xfrm>
            <a:off x="2907792" y="1600200"/>
            <a:ext cx="2011680" cy="4846320"/>
          </a:xfrm>
          <a:prstGeom prst="roundRect">
            <a:avLst/>
          </a:prstGeom>
          <a:solidFill>
            <a:srgbClr val="0D1526"/>
          </a:solidFill>
          <a:ln w="1524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7520" y="1737360"/>
            <a:ext cx="1792224" cy="4572000"/>
          </a:xfrm>
          <a:prstGeom prst="rect">
            <a:avLst/>
          </a:prstGeom>
          <a:noFill/>
        </p:spPr>
        <p:txBody>
          <a:bodyPr wrap="square" lIns="0" rIns="0" tIns="0" bIns="0">
            <a:spAutoFit/>
          </a:bodyPr>
          <a:lstStyle/>
          <a:p>
            <a:pPr>
              <a:defRPr sz="800" b="1">
                <a:solidFill>
                  <a:srgbClr val="00F2FE"/>
                </a:solidFill>
                <a:latin typeface="Arial"/>
              </a:defRPr>
            </a:pPr>
            <a:r>
              <a:t>PRESENTER</a:t>
            </a:r>
          </a:p>
          <a:p>
            <a:pPr>
              <a:defRPr sz="1200" b="1">
                <a:solidFill>
                  <a:srgbClr val="FFFFFF"/>
                </a:solidFill>
                <a:latin typeface="Arial"/>
              </a:defRPr>
            </a:pPr>
            <a:r>
              <a:t>Astha Thapa</a:t>
            </a:r>
          </a:p>
          <a:p>
            <a:pPr>
              <a:defRPr sz="850">
                <a:solidFill>
                  <a:srgbClr val="38BDF8"/>
                </a:solidFill>
                <a:latin typeface="Arial"/>
              </a:defRPr>
            </a:pPr>
            <a:r>
              <a:t>A010175625014</a:t>
            </a:r>
          </a:p>
          <a:p>
            <a:pPr>
              <a:defRPr sz="900" b="1">
                <a:solidFill>
                  <a:srgbClr val="A855F7"/>
                </a:solidFill>
                <a:latin typeface="Arial"/>
              </a:defRPr>
            </a:pPr>
            <a:r>
              <a:t>ML Classification &amp; Tuning</a:t>
            </a:r>
          </a:p>
          <a:p/>
          <a:p>
            <a:pPr>
              <a:defRPr sz="750" b="1">
                <a:solidFill>
                  <a:srgbClr val="64748B"/>
                </a:solidFill>
                <a:latin typeface="Arial"/>
              </a:defRPr>
            </a:pPr>
            <a:r>
              <a:t>CORE RESPONSIBILITIES:</a:t>
            </a:r>
          </a:p>
          <a:p>
            <a:pPr>
              <a:defRPr sz="800">
                <a:solidFill>
                  <a:srgbClr val="E2E8F0"/>
                </a:solidFill>
                <a:latin typeface="Arial"/>
              </a:defRPr>
            </a:pPr>
            <a:r>
              <a:t>• Logistic Regression L-BFGS optimization</a:t>
            </a:r>
          </a:p>
          <a:p>
            <a:pPr>
              <a:defRPr sz="800">
                <a:solidFill>
                  <a:srgbClr val="E2E8F0"/>
                </a:solidFill>
                <a:latin typeface="Arial"/>
              </a:defRPr>
            </a:pPr>
            <a:r>
              <a:t>• Multinomial Naive Bayes (Laplace α=1.0)</a:t>
            </a:r>
          </a:p>
          <a:p>
            <a:pPr>
              <a:defRPr sz="800">
                <a:solidFill>
                  <a:srgbClr val="E2E8F0"/>
                </a:solidFill>
                <a:latin typeface="Arial"/>
              </a:defRPr>
            </a:pPr>
            <a:r>
              <a:t>• Linear SVM soft-margin classification</a:t>
            </a:r>
          </a:p>
          <a:p>
            <a:pPr>
              <a:defRPr sz="800">
                <a:solidFill>
                  <a:srgbClr val="E2E8F0"/>
                </a:solidFill>
                <a:latin typeface="Arial"/>
              </a:defRPr>
            </a:pPr>
            <a:r>
              <a:t>• 3-fold Platt probability calibration</a:t>
            </a:r>
          </a:p>
        </p:txBody>
      </p:sp>
      <p:sp>
        <p:nvSpPr>
          <p:cNvPr id="11" name="Rounded Rectangle 10"/>
          <p:cNvSpPr/>
          <p:nvPr/>
        </p:nvSpPr>
        <p:spPr>
          <a:xfrm>
            <a:off x="5084064" y="1600200"/>
            <a:ext cx="2011680" cy="4846320"/>
          </a:xfrm>
          <a:prstGeom prst="roundRect">
            <a:avLst/>
          </a:prstGeom>
          <a:solidFill>
            <a:srgbClr val="0D1526"/>
          </a:solidFill>
          <a:ln w="1524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93792" y="1737360"/>
            <a:ext cx="1792224" cy="4572000"/>
          </a:xfrm>
          <a:prstGeom prst="rect">
            <a:avLst/>
          </a:prstGeom>
          <a:noFill/>
        </p:spPr>
        <p:txBody>
          <a:bodyPr wrap="square" lIns="0" rIns="0" tIns="0" bIns="0">
            <a:spAutoFit/>
          </a:bodyPr>
          <a:lstStyle/>
          <a:p>
            <a:pPr>
              <a:defRPr sz="800" b="1">
                <a:solidFill>
                  <a:srgbClr val="00F2FE"/>
                </a:solidFill>
                <a:latin typeface="Arial"/>
              </a:defRPr>
            </a:pPr>
            <a:r>
              <a:t>PRESENTER</a:t>
            </a:r>
          </a:p>
          <a:p>
            <a:pPr>
              <a:defRPr sz="1200" b="1">
                <a:solidFill>
                  <a:srgbClr val="FFFFFF"/>
                </a:solidFill>
                <a:latin typeface="Arial"/>
              </a:defRPr>
            </a:pPr>
            <a:r>
              <a:t>Saloni Ganvir</a:t>
            </a:r>
          </a:p>
          <a:p>
            <a:pPr>
              <a:defRPr sz="850">
                <a:solidFill>
                  <a:srgbClr val="38BDF8"/>
                </a:solidFill>
                <a:latin typeface="Arial"/>
              </a:defRPr>
            </a:pPr>
            <a:r>
              <a:t>A010175625017</a:t>
            </a:r>
          </a:p>
          <a:p>
            <a:pPr>
              <a:defRPr sz="900" b="1">
                <a:solidFill>
                  <a:srgbClr val="A855F7"/>
                </a:solidFill>
                <a:latin typeface="Arial"/>
              </a:defRPr>
            </a:pPr>
            <a:r>
              <a:t>Explainable AI &amp; NLI</a:t>
            </a:r>
          </a:p>
          <a:p/>
          <a:p>
            <a:pPr>
              <a:defRPr sz="750" b="1">
                <a:solidFill>
                  <a:srgbClr val="64748B"/>
                </a:solidFill>
                <a:latin typeface="Arial"/>
              </a:defRPr>
            </a:pPr>
            <a:r>
              <a:t>CORE RESPONSIBILITIES:</a:t>
            </a:r>
          </a:p>
          <a:p>
            <a:pPr>
              <a:defRPr sz="800">
                <a:solidFill>
                  <a:srgbClr val="E2E8F0"/>
                </a:solidFill>
                <a:latin typeface="Arial"/>
              </a:defRPr>
            </a:pPr>
            <a:r>
              <a:t>• LIME local surrogate perturbations (N=500)</a:t>
            </a:r>
          </a:p>
          <a:p>
            <a:pPr>
              <a:defRPr sz="800">
                <a:solidFill>
                  <a:srgbClr val="E2E8F0"/>
                </a:solidFill>
                <a:latin typeface="Arial"/>
              </a:defRPr>
            </a:pPr>
            <a:r>
              <a:t>• SHAP closed-form linear Shapley values</a:t>
            </a:r>
          </a:p>
          <a:p>
            <a:pPr>
              <a:defRPr sz="800">
                <a:solidFill>
                  <a:srgbClr val="E2E8F0"/>
                </a:solidFill>
                <a:latin typeface="Arial"/>
              </a:defRPr>
            </a:pPr>
            <a:r>
              <a:t>• DeBERTa-v3 cross-encoder NLI pipeline</a:t>
            </a:r>
          </a:p>
          <a:p>
            <a:pPr>
              <a:defRPr sz="800">
                <a:solidFill>
                  <a:srgbClr val="E2E8F0"/>
                </a:solidFill>
                <a:latin typeface="Arial"/>
              </a:defRPr>
            </a:pPr>
            <a:r>
              <a:t>• Apple Silicon MPS Metal acceleration</a:t>
            </a:r>
          </a:p>
        </p:txBody>
      </p:sp>
      <p:sp>
        <p:nvSpPr>
          <p:cNvPr id="13" name="Rounded Rectangle 12"/>
          <p:cNvSpPr/>
          <p:nvPr/>
        </p:nvSpPr>
        <p:spPr>
          <a:xfrm>
            <a:off x="7260336" y="1600200"/>
            <a:ext cx="2011680" cy="4846320"/>
          </a:xfrm>
          <a:prstGeom prst="roundRect">
            <a:avLst/>
          </a:prstGeom>
          <a:solidFill>
            <a:srgbClr val="0D1526"/>
          </a:solidFill>
          <a:ln w="1524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70064" y="1737360"/>
            <a:ext cx="1792224" cy="4572000"/>
          </a:xfrm>
          <a:prstGeom prst="rect">
            <a:avLst/>
          </a:prstGeom>
          <a:noFill/>
        </p:spPr>
        <p:txBody>
          <a:bodyPr wrap="square" lIns="0" rIns="0" tIns="0" bIns="0">
            <a:spAutoFit/>
          </a:bodyPr>
          <a:lstStyle/>
          <a:p>
            <a:pPr>
              <a:defRPr sz="800" b="1">
                <a:solidFill>
                  <a:srgbClr val="00F2FE"/>
                </a:solidFill>
                <a:latin typeface="Arial"/>
              </a:defRPr>
            </a:pPr>
            <a:r>
              <a:t>PRESENTER</a:t>
            </a:r>
          </a:p>
          <a:p>
            <a:pPr>
              <a:defRPr sz="1200" b="1">
                <a:solidFill>
                  <a:srgbClr val="FFFFFF"/>
                </a:solidFill>
                <a:latin typeface="Arial"/>
              </a:defRPr>
            </a:pPr>
            <a:r>
              <a:t>Sri Rinith</a:t>
            </a:r>
          </a:p>
          <a:p>
            <a:pPr>
              <a:defRPr sz="850">
                <a:solidFill>
                  <a:srgbClr val="38BDF8"/>
                </a:solidFill>
                <a:latin typeface="Arial"/>
              </a:defRPr>
            </a:pPr>
            <a:r>
              <a:t>A010175625018</a:t>
            </a:r>
          </a:p>
          <a:p>
            <a:pPr>
              <a:defRPr sz="900" b="1">
                <a:solidFill>
                  <a:srgbClr val="A855F7"/>
                </a:solidFill>
                <a:latin typeface="Arial"/>
              </a:defRPr>
            </a:pPr>
            <a:r>
              <a:t>Evaluation &amp; RL Bandit</a:t>
            </a:r>
          </a:p>
          <a:p/>
          <a:p>
            <a:pPr>
              <a:defRPr sz="750" b="1">
                <a:solidFill>
                  <a:srgbClr val="64748B"/>
                </a:solidFill>
                <a:latin typeface="Arial"/>
              </a:defRPr>
            </a:pPr>
            <a:r>
              <a:t>CORE RESPONSIBILITIES:</a:t>
            </a:r>
          </a:p>
          <a:p>
            <a:pPr>
              <a:defRPr sz="800">
                <a:solidFill>
                  <a:srgbClr val="E2E8F0"/>
                </a:solidFill>
                <a:latin typeface="Arial"/>
              </a:defRPr>
            </a:pPr>
            <a:r>
              <a:t>• UCB1 multi-armed bandit evidence loop</a:t>
            </a:r>
          </a:p>
          <a:p>
            <a:pPr>
              <a:defRPr sz="800">
                <a:solidFill>
                  <a:srgbClr val="E2E8F0"/>
                </a:solidFill>
                <a:latin typeface="Arial"/>
              </a:defRPr>
            </a:pPr>
            <a:r>
              <a:t>• Empirical benchmarking (N=6,685 test set)</a:t>
            </a:r>
          </a:p>
          <a:p>
            <a:pPr>
              <a:defRPr sz="800">
                <a:solidFill>
                  <a:srgbClr val="E2E8F0"/>
                </a:solidFill>
                <a:latin typeface="Arial"/>
              </a:defRPr>
            </a:pPr>
            <a:r>
              <a:t>• XAI faithfulness &amp; token masking tests</a:t>
            </a:r>
          </a:p>
          <a:p>
            <a:pPr>
              <a:defRPr sz="800">
                <a:solidFill>
                  <a:srgbClr val="E2E8F0"/>
                </a:solidFill>
                <a:latin typeface="Arial"/>
              </a:defRPr>
            </a:pPr>
            <a:r>
              <a:t>• Automated pytest suite (60/60 passing)</a:t>
            </a:r>
          </a:p>
        </p:txBody>
      </p:sp>
      <p:sp>
        <p:nvSpPr>
          <p:cNvPr id="15" name="Rounded Rectangle 14"/>
          <p:cNvSpPr/>
          <p:nvPr/>
        </p:nvSpPr>
        <p:spPr>
          <a:xfrm>
            <a:off x="9436608" y="1600200"/>
            <a:ext cx="2011680" cy="4846320"/>
          </a:xfrm>
          <a:prstGeom prst="roundRect">
            <a:avLst/>
          </a:prstGeom>
          <a:solidFill>
            <a:srgbClr val="0D1526"/>
          </a:solidFill>
          <a:ln w="1524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46336" y="1737360"/>
            <a:ext cx="1792224" cy="4572000"/>
          </a:xfrm>
          <a:prstGeom prst="rect">
            <a:avLst/>
          </a:prstGeom>
          <a:noFill/>
        </p:spPr>
        <p:txBody>
          <a:bodyPr wrap="square" lIns="0" rIns="0" tIns="0" bIns="0">
            <a:spAutoFit/>
          </a:bodyPr>
          <a:lstStyle/>
          <a:p>
            <a:pPr>
              <a:defRPr sz="800" b="1">
                <a:solidFill>
                  <a:srgbClr val="64748B"/>
                </a:solidFill>
                <a:latin typeface="Arial"/>
              </a:defRPr>
            </a:pPr>
            <a:r>
              <a:t>TEAM MEMBER</a:t>
            </a:r>
          </a:p>
          <a:p>
            <a:pPr>
              <a:defRPr sz="1200" b="1">
                <a:solidFill>
                  <a:srgbClr val="FFFFFF"/>
                </a:solidFill>
                <a:latin typeface="Arial"/>
              </a:defRPr>
            </a:pPr>
            <a:r>
              <a:t>Sarvesh</a:t>
            </a:r>
          </a:p>
          <a:p>
            <a:pPr>
              <a:defRPr sz="850">
                <a:solidFill>
                  <a:srgbClr val="38BDF8"/>
                </a:solidFill>
                <a:latin typeface="Arial"/>
              </a:defRPr>
            </a:pPr>
            <a:r>
              <a:t>A010175625016</a:t>
            </a:r>
          </a:p>
          <a:p>
            <a:pPr>
              <a:defRPr sz="900" b="1">
                <a:solidFill>
                  <a:srgbClr val="A855F7"/>
                </a:solidFill>
                <a:latin typeface="Arial"/>
              </a:defRPr>
            </a:pPr>
            <a:r>
              <a:t>Editorial UI &amp; OCR Engine</a:t>
            </a:r>
          </a:p>
          <a:p/>
          <a:p>
            <a:pPr>
              <a:defRPr sz="750" b="1">
                <a:solidFill>
                  <a:srgbClr val="64748B"/>
                </a:solidFill>
                <a:latin typeface="Arial"/>
              </a:defRPr>
            </a:pPr>
            <a:r>
              <a:t>CORE RESPONSIBILITIES:</a:t>
            </a:r>
          </a:p>
          <a:p>
            <a:pPr>
              <a:defRPr sz="800">
                <a:solidFill>
                  <a:srgbClr val="E2E8F0"/>
                </a:solidFill>
                <a:latin typeface="Arial"/>
              </a:defRPr>
            </a:pPr>
            <a:r>
              <a:t>• Streamlit 6-view responsive interface</a:t>
            </a:r>
          </a:p>
          <a:p>
            <a:pPr>
              <a:defRPr sz="800">
                <a:solidFill>
                  <a:srgbClr val="E2E8F0"/>
                </a:solidFill>
                <a:latin typeface="Arial"/>
              </a:defRPr>
            </a:pPr>
            <a:r>
              <a:t>• Tesseract 5.5 OCR screenshot ingestion</a:t>
            </a:r>
          </a:p>
          <a:p>
            <a:pPr>
              <a:defRPr sz="800">
                <a:solidFill>
                  <a:srgbClr val="E2E8F0"/>
                </a:solidFill>
                <a:latin typeface="Arial"/>
              </a:defRPr>
            </a:pPr>
            <a:r>
              <a:t>• SQLite audit persistence (WAL mode)</a:t>
            </a:r>
          </a:p>
          <a:p>
            <a:pPr>
              <a:defRPr sz="800">
                <a:solidFill>
                  <a:srgbClr val="E2E8F0"/>
                </a:solidFill>
                <a:latin typeface="Arial"/>
              </a:defRPr>
            </a:pPr>
            <a:r>
              <a:t>• 90-day automated record retention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rIns="0" tIns="0" bIns="0">
            <a:spAutoFit/>
          </a:bodyPr>
          <a:lstStyle/>
          <a:p>
            <a:pPr>
              <a:defRPr sz="950" b="1">
                <a:solidFill>
                  <a:srgbClr val="00F2FE"/>
                </a:solidFill>
                <a:latin typeface="Arial"/>
              </a:defRPr>
            </a:pPr>
            <a:r>
              <a:t>02 • INTRODUCTION OF THE PROJECT</a:t>
            </a:r>
          </a:p>
        </p:txBody>
      </p:sp>
      <p:sp>
        <p:nvSpPr>
          <p:cNvPr id="4" name="TextBox 3"/>
          <p:cNvSpPr txBox="1"/>
          <p:nvPr/>
        </p:nvSpPr>
        <p:spPr>
          <a:xfrm>
            <a:off x="731520" y="640080"/>
            <a:ext cx="10728655" cy="457200"/>
          </a:xfrm>
          <a:prstGeom prst="rect">
            <a:avLst/>
          </a:prstGeom>
          <a:noFill/>
        </p:spPr>
        <p:txBody>
          <a:bodyPr wrap="square" lIns="0" rIns="0" tIns="0" bIns="0">
            <a:spAutoFit/>
          </a:bodyPr>
          <a:lstStyle/>
          <a:p>
            <a:pPr>
              <a:defRPr sz="1900" b="1">
                <a:solidFill>
                  <a:srgbClr val="FFFFFF"/>
                </a:solidFill>
                <a:latin typeface="Arial"/>
              </a:defRPr>
            </a:pPr>
            <a:r>
              <a:t>The Disinformation Crisis &amp; The AI Black-Box Dilemma</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050">
                <a:solidFill>
                  <a:srgbClr val="94A3B8"/>
                </a:solidFill>
                <a:latin typeface="Arial"/>
              </a:defRPr>
            </a:pPr>
            <a:r>
              <a:t>Why Statistical Classifiers Require Explainability and Evidence Grounding</a:t>
            </a:r>
          </a:p>
        </p:txBody>
      </p:sp>
      <p:sp>
        <p:nvSpPr>
          <p:cNvPr id="6" name="Rectangle 5"/>
          <p:cNvSpPr/>
          <p:nvPr/>
        </p:nvSpPr>
        <p:spPr>
          <a:xfrm>
            <a:off x="731520" y="1389888"/>
            <a:ext cx="10728655" cy="18288"/>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3383280" cy="3657600"/>
          </a:xfrm>
          <a:prstGeom prst="roundRect">
            <a:avLst/>
          </a:prstGeom>
          <a:solidFill>
            <a:srgbClr val="0D15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3017520" cy="3291840"/>
          </a:xfrm>
          <a:prstGeom prst="rect">
            <a:avLst/>
          </a:prstGeom>
          <a:noFill/>
        </p:spPr>
        <p:txBody>
          <a:bodyPr wrap="square" lIns="0" rIns="0" tIns="0" bIns="0">
            <a:spAutoFit/>
          </a:bodyPr>
          <a:lstStyle/>
          <a:p>
            <a:pPr>
              <a:defRPr sz="850" b="1">
                <a:solidFill>
                  <a:srgbClr val="00F2FE"/>
                </a:solidFill>
                <a:latin typeface="Arial"/>
              </a:defRPr>
            </a:pPr>
            <a:r>
              <a:t>CHALLENGE 01</a:t>
            </a:r>
          </a:p>
          <a:p>
            <a:pPr>
              <a:defRPr sz="1300" b="1">
                <a:solidFill>
                  <a:srgbClr val="FFFFFF"/>
                </a:solidFill>
                <a:latin typeface="Arial"/>
              </a:defRPr>
            </a:pPr>
            <a:r>
              <a:t>Information Velocity &amp; Scale</a:t>
            </a:r>
          </a:p>
          <a:p/>
          <a:p>
            <a:pPr>
              <a:defRPr sz="950">
                <a:solidFill>
                  <a:srgbClr val="E2E8F0"/>
                </a:solidFill>
                <a:latin typeface="Arial"/>
              </a:defRPr>
            </a:pPr>
            <a:r>
              <a:t>•  Disinformation propagates 6x faster than verified reporting across modern social media graphs.</a:t>
            </a:r>
          </a:p>
          <a:p>
            <a:pPr>
              <a:defRPr sz="950">
                <a:solidFill>
                  <a:srgbClr val="E2E8F0"/>
                </a:solidFill>
                <a:latin typeface="Arial"/>
              </a:defRPr>
            </a:pPr>
            <a:r>
              <a:t>•  Manual editorial fact-checking requires hours per story, creating severe response latency.</a:t>
            </a:r>
          </a:p>
          <a:p>
            <a:pPr>
              <a:defRPr sz="950">
                <a:solidFill>
                  <a:srgbClr val="E2E8F0"/>
                </a:solidFill>
                <a:latin typeface="Arial"/>
              </a:defRPr>
            </a:pPr>
            <a:r>
              <a:t>•  Automated computational triaging is urgent to flag deceptive narratives at web scale.</a:t>
            </a:r>
          </a:p>
        </p:txBody>
      </p:sp>
      <p:sp>
        <p:nvSpPr>
          <p:cNvPr id="9" name="Rounded Rectangle 8"/>
          <p:cNvSpPr/>
          <p:nvPr/>
        </p:nvSpPr>
        <p:spPr>
          <a:xfrm>
            <a:off x="4389120" y="1645920"/>
            <a:ext cx="3383280" cy="3657600"/>
          </a:xfrm>
          <a:prstGeom prst="roundRect">
            <a:avLst/>
          </a:prstGeom>
          <a:solidFill>
            <a:srgbClr val="0D15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828800"/>
            <a:ext cx="3017520" cy="3291840"/>
          </a:xfrm>
          <a:prstGeom prst="rect">
            <a:avLst/>
          </a:prstGeom>
          <a:noFill/>
        </p:spPr>
        <p:txBody>
          <a:bodyPr wrap="square" lIns="0" rIns="0" tIns="0" bIns="0">
            <a:spAutoFit/>
          </a:bodyPr>
          <a:lstStyle/>
          <a:p>
            <a:pPr>
              <a:defRPr sz="850" b="1">
                <a:solidFill>
                  <a:srgbClr val="F59E0B"/>
                </a:solidFill>
                <a:latin typeface="Arial"/>
              </a:defRPr>
            </a:pPr>
            <a:r>
              <a:t>CHALLENGE 02</a:t>
            </a:r>
          </a:p>
          <a:p>
            <a:pPr>
              <a:defRPr sz="1300" b="1">
                <a:solidFill>
                  <a:srgbClr val="FFFFFF"/>
                </a:solidFill>
                <a:latin typeface="Arial"/>
              </a:defRPr>
            </a:pPr>
            <a:r>
              <a:t>The AI Black-Box Hazard</a:t>
            </a:r>
          </a:p>
          <a:p/>
          <a:p>
            <a:pPr>
              <a:defRPr sz="950">
                <a:solidFill>
                  <a:srgbClr val="E2E8F0"/>
                </a:solidFill>
                <a:latin typeface="Arial"/>
              </a:defRPr>
            </a:pPr>
            <a:r>
              <a:t>•  Standard deep models output opaque numbers (e.g., '92% Fake') without actionable human rationale.</a:t>
            </a:r>
          </a:p>
          <a:p>
            <a:pPr>
              <a:defRPr sz="950">
                <a:solidFill>
                  <a:srgbClr val="E2E8F0"/>
                </a:solidFill>
                <a:latin typeface="Arial"/>
              </a:defRPr>
            </a:pPr>
            <a:r>
              <a:t>•  Journalists, legal scholars, and citizens cannot trust decisions without verifiable justification.</a:t>
            </a:r>
          </a:p>
          <a:p>
            <a:pPr>
              <a:defRPr sz="950">
                <a:solidFill>
                  <a:srgbClr val="E2E8F0"/>
                </a:solidFill>
                <a:latin typeface="Arial"/>
              </a:defRPr>
            </a:pPr>
            <a:r>
              <a:t>•  Opaque predictions produce either false confidence or complete algorithmic skepticism.</a:t>
            </a:r>
          </a:p>
        </p:txBody>
      </p:sp>
      <p:sp>
        <p:nvSpPr>
          <p:cNvPr id="11" name="Rounded Rectangle 10"/>
          <p:cNvSpPr/>
          <p:nvPr/>
        </p:nvSpPr>
        <p:spPr>
          <a:xfrm>
            <a:off x="8046720" y="1645920"/>
            <a:ext cx="3383280" cy="3657600"/>
          </a:xfrm>
          <a:prstGeom prst="roundRect">
            <a:avLst/>
          </a:prstGeom>
          <a:solidFill>
            <a:srgbClr val="0D15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828800"/>
            <a:ext cx="3017520" cy="3291840"/>
          </a:xfrm>
          <a:prstGeom prst="rect">
            <a:avLst/>
          </a:prstGeom>
          <a:noFill/>
        </p:spPr>
        <p:txBody>
          <a:bodyPr wrap="square" lIns="0" rIns="0" tIns="0" bIns="0">
            <a:spAutoFit/>
          </a:bodyPr>
          <a:lstStyle/>
          <a:p>
            <a:pPr>
              <a:defRPr sz="850" b="1">
                <a:solidFill>
                  <a:srgbClr val="A855F7"/>
                </a:solidFill>
                <a:latin typeface="Arial"/>
              </a:defRPr>
            </a:pPr>
            <a:r>
              <a:t>CHALLENGE 03</a:t>
            </a:r>
          </a:p>
          <a:p>
            <a:pPr>
              <a:defRPr sz="1300" b="1">
                <a:solidFill>
                  <a:srgbClr val="FFFFFF"/>
                </a:solidFill>
                <a:latin typeface="Arial"/>
              </a:defRPr>
            </a:pPr>
            <a:r>
              <a:t>Stylometry vs. Factual Truth</a:t>
            </a:r>
          </a:p>
          <a:p/>
          <a:p>
            <a:pPr>
              <a:defRPr sz="950">
                <a:solidFill>
                  <a:srgbClr val="E2E8F0"/>
                </a:solidFill>
                <a:latin typeface="Arial"/>
              </a:defRPr>
            </a:pPr>
            <a:r>
              <a:t>•  Writing style is NOT identical to ground truth: polished lies use neutral, academic syntax.</a:t>
            </a:r>
          </a:p>
          <a:p>
            <a:pPr>
              <a:defRPr sz="950">
                <a:solidFill>
                  <a:srgbClr val="E2E8F0"/>
                </a:solidFill>
                <a:latin typeface="Arial"/>
              </a:defRPr>
            </a:pPr>
            <a:r>
              <a:t>•  Conversely, authentic citizen reporting during crises often uses urgent, emotional language.</a:t>
            </a:r>
          </a:p>
          <a:p>
            <a:pPr>
              <a:defRPr sz="950">
                <a:solidFill>
                  <a:srgbClr val="E2E8F0"/>
                </a:solidFill>
                <a:latin typeface="Arial"/>
              </a:defRPr>
            </a:pPr>
            <a:r>
              <a:t>•  Statistical text classification must be grounded in external natural language evidence.</a:t>
            </a:r>
          </a:p>
        </p:txBody>
      </p:sp>
      <p:sp>
        <p:nvSpPr>
          <p:cNvPr id="13" name="Rounded Rectangle 12"/>
          <p:cNvSpPr/>
          <p:nvPr/>
        </p:nvSpPr>
        <p:spPr>
          <a:xfrm>
            <a:off x="731520" y="5486400"/>
            <a:ext cx="10728655" cy="868680"/>
          </a:xfrm>
          <a:prstGeom prst="roundRect">
            <a:avLst/>
          </a:prstGeom>
          <a:solidFill>
            <a:srgbClr val="111C33"/>
          </a:solidFill>
          <a:ln w="1524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559552"/>
            <a:ext cx="10362895" cy="731520"/>
          </a:xfrm>
          <a:prstGeom prst="rect">
            <a:avLst/>
          </a:prstGeom>
          <a:noFill/>
        </p:spPr>
        <p:txBody>
          <a:bodyPr wrap="square" lIns="0" rIns="0" tIns="0" bIns="0">
            <a:spAutoFit/>
          </a:bodyPr>
          <a:lstStyle/>
          <a:p>
            <a:pPr>
              <a:defRPr sz="900" b="1">
                <a:solidFill>
                  <a:srgbClr val="00F2FE"/>
                </a:solidFill>
                <a:latin typeface="Arial"/>
              </a:defRPr>
            </a:pPr>
            <a:r>
              <a:t>THE VERISCOPE AI VERIFICATION TRIAD</a:t>
            </a:r>
          </a:p>
          <a:p>
            <a:pPr>
              <a:defRPr sz="1100" b="1">
                <a:solidFill>
                  <a:srgbClr val="FFFFFF"/>
                </a:solidFill>
                <a:latin typeface="Arial"/>
              </a:defRPr>
            </a:pPr>
            <a:r>
              <a:t>1. Calibrated Machine Learning (Stylometry)  →  2. Dual XAI Interpretability (LIME &amp; SHAP)  →  3. Neural NLI Grounding (DeBERTa-v3)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rIns="0" tIns="0" bIns="0">
            <a:spAutoFit/>
          </a:bodyPr>
          <a:lstStyle/>
          <a:p>
            <a:pPr>
              <a:defRPr sz="950" b="1">
                <a:solidFill>
                  <a:srgbClr val="00F2FE"/>
                </a:solidFill>
                <a:latin typeface="Arial"/>
              </a:defRPr>
            </a:pPr>
            <a:r>
              <a:t>03 • ABSTRACT</a:t>
            </a:r>
          </a:p>
        </p:txBody>
      </p:sp>
      <p:sp>
        <p:nvSpPr>
          <p:cNvPr id="4" name="TextBox 3"/>
          <p:cNvSpPr txBox="1"/>
          <p:nvPr/>
        </p:nvSpPr>
        <p:spPr>
          <a:xfrm>
            <a:off x="731520" y="640080"/>
            <a:ext cx="10728655" cy="457200"/>
          </a:xfrm>
          <a:prstGeom prst="rect">
            <a:avLst/>
          </a:prstGeom>
          <a:noFill/>
        </p:spPr>
        <p:txBody>
          <a:bodyPr wrap="square" lIns="0" rIns="0" tIns="0" bIns="0">
            <a:spAutoFit/>
          </a:bodyPr>
          <a:lstStyle/>
          <a:p>
            <a:pPr>
              <a:defRPr sz="1900" b="1">
                <a:solidFill>
                  <a:srgbClr val="FFFFFF"/>
                </a:solidFill>
                <a:latin typeface="Arial"/>
              </a:defRPr>
            </a:pPr>
            <a:r>
              <a:t>Executive Academic Abstract &amp; System Synthesis</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050">
                <a:solidFill>
                  <a:srgbClr val="94A3B8"/>
                </a:solidFill>
                <a:latin typeface="Arial"/>
              </a:defRPr>
            </a:pPr>
            <a:r>
              <a:t>An Explainable, Multimodal Verification Architecture Grounded in Empirical Evidence</a:t>
            </a:r>
          </a:p>
        </p:txBody>
      </p:sp>
      <p:sp>
        <p:nvSpPr>
          <p:cNvPr id="6" name="Rectangle 5"/>
          <p:cNvSpPr/>
          <p:nvPr/>
        </p:nvSpPr>
        <p:spPr>
          <a:xfrm>
            <a:off x="731520" y="1389888"/>
            <a:ext cx="10728655" cy="18288"/>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6583680" cy="4754880"/>
          </a:xfrm>
          <a:prstGeom prst="roundRect">
            <a:avLst/>
          </a:prstGeom>
          <a:solidFill>
            <a:srgbClr val="0D15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28800"/>
            <a:ext cx="6126480" cy="4389120"/>
          </a:xfrm>
          <a:prstGeom prst="rect">
            <a:avLst/>
          </a:prstGeom>
          <a:noFill/>
        </p:spPr>
        <p:txBody>
          <a:bodyPr wrap="square" lIns="0" rIns="0" tIns="0" bIns="0">
            <a:spAutoFit/>
          </a:bodyPr>
          <a:lstStyle/>
          <a:p>
            <a:pPr>
              <a:defRPr sz="900" b="1">
                <a:solidFill>
                  <a:srgbClr val="00F2FE"/>
                </a:solidFill>
                <a:latin typeface="Arial"/>
              </a:defRPr>
            </a:pPr>
            <a:r>
              <a:t>RESEARCH ABSTRACT</a:t>
            </a:r>
          </a:p>
          <a:p>
            <a:pPr>
              <a:defRPr sz="900">
                <a:solidFill>
                  <a:srgbClr val="E2E8F0"/>
                </a:solidFill>
                <a:latin typeface="Arial"/>
              </a:defRPr>
            </a:pPr>
            <a:r>
              <a:t>VeriScope AI addresses the proliferation of synthetic and deceptive news by providing an end-to-end, transparent, and evidence-grounded verification framework. While standard NLP classifiers rely on uncalibrated black-box predictions, VeriScope AI unifies statistical machine learning with local and additive explainability and cross-encoder neural language inference.</a:t>
            </a:r>
          </a:p>
          <a:p>
            <a:pPr>
              <a:defRPr sz="900">
                <a:solidFill>
                  <a:srgbClr val="E2E8F0"/>
                </a:solidFill>
                <a:latin typeface="Arial"/>
              </a:defRPr>
            </a:pPr>
            <a:r>
              <a:t>To resolve systemic publisher dateline leakage in prior benchmarks, we integrated the 44,267-article ISOT dataset, purged wire tags (e.g., 'Reuters'), and developed a group-aware stratified splitting engine that guarantees 0.0% cross-partition leakage across 38,583 unique body clusters.</a:t>
            </a:r>
          </a:p>
          <a:p>
            <a:pPr>
              <a:defRPr sz="900">
                <a:solidFill>
                  <a:srgbClr val="E2E8F0"/>
                </a:solidFill>
                <a:latin typeface="Arial"/>
              </a:defRPr>
            </a:pPr>
            <a:r>
              <a:t>On the held-out test set (N = 6,685), our calibrated Linear SVM achieved 98.31% Accuracy and 0.9831 Macro F1 (Logistic Regression: 98.37% Accuracy / 0.9837 Macro F1). Predictions are decomposed via LIME and SHAP with 100% directional sign concordance, while a DeBERTa-v3 cross-encoder validates claims against external evidence.</a:t>
            </a:r>
          </a:p>
          <a:p>
            <a:pPr>
              <a:defRPr sz="900">
                <a:solidFill>
                  <a:srgbClr val="E2E8F0"/>
                </a:solidFill>
                <a:latin typeface="Arial"/>
              </a:defRPr>
            </a:pPr>
            <a:r>
              <a:t>Designed as an assistive editorial co-pilot, VeriScope AI operates with strict epistemic modesty: statistical style indicates deceptive language cues, but true verification requires external evidence corroboration.</a:t>
            </a:r>
          </a:p>
        </p:txBody>
      </p:sp>
      <p:sp>
        <p:nvSpPr>
          <p:cNvPr id="9" name="Rounded Rectangle 8"/>
          <p:cNvSpPr/>
          <p:nvPr/>
        </p:nvSpPr>
        <p:spPr>
          <a:xfrm>
            <a:off x="7589520" y="1645920"/>
            <a:ext cx="3870655" cy="1097280"/>
          </a:xfrm>
          <a:prstGeom prst="roundRect">
            <a:avLst/>
          </a:prstGeom>
          <a:solidFill>
            <a:srgbClr val="111C33"/>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26680" y="1755648"/>
            <a:ext cx="3596335" cy="877824"/>
          </a:xfrm>
          <a:prstGeom prst="rect">
            <a:avLst/>
          </a:prstGeom>
          <a:noFill/>
        </p:spPr>
        <p:txBody>
          <a:bodyPr wrap="square" lIns="0" rIns="0" tIns="0" bIns="0">
            <a:spAutoFit/>
          </a:bodyPr>
          <a:lstStyle/>
          <a:p>
            <a:pPr>
              <a:defRPr sz="800" b="1">
                <a:solidFill>
                  <a:srgbClr val="00F2FE"/>
                </a:solidFill>
                <a:latin typeface="Arial"/>
              </a:defRPr>
            </a:pPr>
            <a:r>
              <a:t>MULTIMODAL INPUT</a:t>
            </a:r>
          </a:p>
          <a:p>
            <a:pPr>
              <a:defRPr sz="1100" b="1">
                <a:solidFill>
                  <a:srgbClr val="FFFFFF"/>
                </a:solidFill>
                <a:latin typeface="Arial"/>
              </a:defRPr>
            </a:pPr>
            <a:r>
              <a:t>Tesseract 5.5 OCR + Text</a:t>
            </a:r>
          </a:p>
          <a:p>
            <a:pPr>
              <a:defRPr sz="850">
                <a:solidFill>
                  <a:srgbClr val="94A3B8"/>
                </a:solidFill>
                <a:latin typeface="Arial"/>
              </a:defRPr>
            </a:pPr>
            <a:r>
              <a:t>Processes raw text, headlines, and screenshot clippings.</a:t>
            </a:r>
          </a:p>
        </p:txBody>
      </p:sp>
      <p:sp>
        <p:nvSpPr>
          <p:cNvPr id="11" name="Rounded Rectangle 10"/>
          <p:cNvSpPr/>
          <p:nvPr/>
        </p:nvSpPr>
        <p:spPr>
          <a:xfrm>
            <a:off x="7589520" y="2862072"/>
            <a:ext cx="3870655" cy="1097280"/>
          </a:xfrm>
          <a:prstGeom prst="roundRect">
            <a:avLst/>
          </a:prstGeom>
          <a:solidFill>
            <a:srgbClr val="111C33"/>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80" y="2971800"/>
            <a:ext cx="3596335" cy="877824"/>
          </a:xfrm>
          <a:prstGeom prst="rect">
            <a:avLst/>
          </a:prstGeom>
          <a:noFill/>
        </p:spPr>
        <p:txBody>
          <a:bodyPr wrap="square" lIns="0" rIns="0" tIns="0" bIns="0">
            <a:spAutoFit/>
          </a:bodyPr>
          <a:lstStyle/>
          <a:p>
            <a:pPr>
              <a:defRPr sz="800" b="1">
                <a:solidFill>
                  <a:srgbClr val="14B8A6"/>
                </a:solidFill>
                <a:latin typeface="Arial"/>
              </a:defRPr>
            </a:pPr>
            <a:r>
              <a:t>ZERO DATA LEAKAGE</a:t>
            </a:r>
          </a:p>
          <a:p>
            <a:pPr>
              <a:defRPr sz="1100" b="1">
                <a:solidFill>
                  <a:srgbClr val="FFFFFF"/>
                </a:solidFill>
                <a:latin typeface="Arial"/>
              </a:defRPr>
            </a:pPr>
            <a:r>
              <a:t>ISOT Group Partitioning</a:t>
            </a:r>
          </a:p>
          <a:p>
            <a:pPr>
              <a:defRPr sz="850">
                <a:solidFill>
                  <a:srgbClr val="94A3B8"/>
                </a:solidFill>
                <a:latin typeface="Arial"/>
              </a:defRPr>
            </a:pPr>
            <a:r>
              <a:t>Eliminates duplicate body leakage across 38,583 clusters.</a:t>
            </a:r>
          </a:p>
        </p:txBody>
      </p:sp>
      <p:sp>
        <p:nvSpPr>
          <p:cNvPr id="13" name="Rounded Rectangle 12"/>
          <p:cNvSpPr/>
          <p:nvPr/>
        </p:nvSpPr>
        <p:spPr>
          <a:xfrm>
            <a:off x="7589520" y="4078224"/>
            <a:ext cx="3870655" cy="1097280"/>
          </a:xfrm>
          <a:prstGeom prst="roundRect">
            <a:avLst/>
          </a:prstGeom>
          <a:solidFill>
            <a:srgbClr val="111C33"/>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26680" y="4187952"/>
            <a:ext cx="3596335" cy="877824"/>
          </a:xfrm>
          <a:prstGeom prst="rect">
            <a:avLst/>
          </a:prstGeom>
          <a:noFill/>
        </p:spPr>
        <p:txBody>
          <a:bodyPr wrap="square" lIns="0" rIns="0" tIns="0" bIns="0">
            <a:spAutoFit/>
          </a:bodyPr>
          <a:lstStyle/>
          <a:p>
            <a:pPr>
              <a:defRPr sz="800" b="1">
                <a:solidFill>
                  <a:srgbClr val="A855F7"/>
                </a:solidFill>
                <a:latin typeface="Arial"/>
              </a:defRPr>
            </a:pPr>
            <a:r>
              <a:t>DUAL EXPLAINABILITY</a:t>
            </a:r>
          </a:p>
          <a:p>
            <a:pPr>
              <a:defRPr sz="1100" b="1">
                <a:solidFill>
                  <a:srgbClr val="FFFFFF"/>
                </a:solidFill>
                <a:latin typeface="Arial"/>
              </a:defRPr>
            </a:pPr>
            <a:r>
              <a:t>LIME + Exact Linear SHAP</a:t>
            </a:r>
          </a:p>
          <a:p>
            <a:pPr>
              <a:defRPr sz="850">
                <a:solidFill>
                  <a:srgbClr val="94A3B8"/>
                </a:solidFill>
                <a:latin typeface="Arial"/>
              </a:defRPr>
            </a:pPr>
            <a:r>
              <a:t>Transparent token-level attributions with 100% sign agreement.</a:t>
            </a:r>
          </a:p>
        </p:txBody>
      </p:sp>
      <p:sp>
        <p:nvSpPr>
          <p:cNvPr id="15" name="Rounded Rectangle 14"/>
          <p:cNvSpPr/>
          <p:nvPr/>
        </p:nvSpPr>
        <p:spPr>
          <a:xfrm>
            <a:off x="7589520" y="5294376"/>
            <a:ext cx="3870655" cy="1097280"/>
          </a:xfrm>
          <a:prstGeom prst="roundRect">
            <a:avLst/>
          </a:prstGeom>
          <a:solidFill>
            <a:srgbClr val="111C33"/>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26680" y="5404104"/>
            <a:ext cx="3596335" cy="877824"/>
          </a:xfrm>
          <a:prstGeom prst="rect">
            <a:avLst/>
          </a:prstGeom>
          <a:noFill/>
        </p:spPr>
        <p:txBody>
          <a:bodyPr wrap="square" lIns="0" rIns="0" tIns="0" bIns="0">
            <a:spAutoFit/>
          </a:bodyPr>
          <a:lstStyle/>
          <a:p>
            <a:pPr>
              <a:defRPr sz="800" b="1">
                <a:solidFill>
                  <a:srgbClr val="38BDF8"/>
                </a:solidFill>
                <a:latin typeface="Arial"/>
              </a:defRPr>
            </a:pPr>
            <a:r>
              <a:t>EVIDENCE GROUNDING</a:t>
            </a:r>
          </a:p>
          <a:p>
            <a:pPr>
              <a:defRPr sz="1100" b="1">
                <a:solidFill>
                  <a:srgbClr val="FFFFFF"/>
                </a:solidFill>
                <a:latin typeface="Arial"/>
              </a:defRPr>
            </a:pPr>
            <a:r>
              <a:t>DeBERTa-v3 NLI + UCB1</a:t>
            </a:r>
          </a:p>
          <a:p>
            <a:pPr>
              <a:defRPr sz="850">
                <a:solidFill>
                  <a:srgbClr val="94A3B8"/>
                </a:solidFill>
                <a:latin typeface="Arial"/>
              </a:defRPr>
            </a:pPr>
            <a:r>
              <a:t>Zero-shot cross-encoder verification with adaptive bandit search.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rIns="0" tIns="0" bIns="0">
            <a:spAutoFit/>
          </a:bodyPr>
          <a:lstStyle/>
          <a:p>
            <a:pPr>
              <a:defRPr sz="950" b="1">
                <a:solidFill>
                  <a:srgbClr val="00F2FE"/>
                </a:solidFill>
                <a:latin typeface="Arial"/>
              </a:defRPr>
            </a:pPr>
            <a:r>
              <a:t>04 • PROJECT INTRODUCTION (POINTS)</a:t>
            </a:r>
          </a:p>
        </p:txBody>
      </p:sp>
      <p:sp>
        <p:nvSpPr>
          <p:cNvPr id="4" name="TextBox 3"/>
          <p:cNvSpPr txBox="1"/>
          <p:nvPr/>
        </p:nvSpPr>
        <p:spPr>
          <a:xfrm>
            <a:off x="731520" y="640080"/>
            <a:ext cx="10728655" cy="457200"/>
          </a:xfrm>
          <a:prstGeom prst="rect">
            <a:avLst/>
          </a:prstGeom>
          <a:noFill/>
        </p:spPr>
        <p:txBody>
          <a:bodyPr wrap="square" lIns="0" rIns="0" tIns="0" bIns="0">
            <a:spAutoFit/>
          </a:bodyPr>
          <a:lstStyle/>
          <a:p>
            <a:pPr>
              <a:defRPr sz="1900" b="1">
                <a:solidFill>
                  <a:srgbClr val="FFFFFF"/>
                </a:solidFill>
                <a:latin typeface="Arial"/>
              </a:defRPr>
            </a:pPr>
            <a:r>
              <a:t>Problem Statement: Epistemological &amp; Technical Vulnerabilities</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050">
                <a:solidFill>
                  <a:srgbClr val="94A3B8"/>
                </a:solidFill>
                <a:latin typeface="Arial"/>
              </a:defRPr>
            </a:pPr>
            <a:r>
              <a:t>Key Deficiencies in Traditional Fake News Classifiers Addressed by VeriScope AI</a:t>
            </a:r>
          </a:p>
        </p:txBody>
      </p:sp>
      <p:sp>
        <p:nvSpPr>
          <p:cNvPr id="6" name="Rectangle 5"/>
          <p:cNvSpPr/>
          <p:nvPr/>
        </p:nvSpPr>
        <p:spPr>
          <a:xfrm>
            <a:off x="731520" y="1389888"/>
            <a:ext cx="10728655" cy="18288"/>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10728655" cy="1417320"/>
          </a:xfrm>
          <a:prstGeom prst="roundRect">
            <a:avLst/>
          </a:prstGeom>
          <a:solidFill>
            <a:srgbClr val="0D15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731520" cy="914400"/>
          </a:xfrm>
          <a:prstGeom prst="rect">
            <a:avLst/>
          </a:prstGeom>
          <a:noFill/>
        </p:spPr>
        <p:txBody>
          <a:bodyPr wrap="square" lIns="0" rIns="0" tIns="0" bIns="0">
            <a:spAutoFit/>
          </a:bodyPr>
          <a:lstStyle/>
          <a:p>
            <a:pPr>
              <a:defRPr sz="2800" b="1">
                <a:solidFill>
                  <a:srgbClr val="00F2FE"/>
                </a:solidFill>
                <a:latin typeface="Arial"/>
              </a:defRPr>
            </a:pPr>
            <a:r>
              <a:t>01</a:t>
            </a:r>
          </a:p>
        </p:txBody>
      </p:sp>
      <p:sp>
        <p:nvSpPr>
          <p:cNvPr id="9" name="TextBox 8"/>
          <p:cNvSpPr txBox="1"/>
          <p:nvPr/>
        </p:nvSpPr>
        <p:spPr>
          <a:xfrm>
            <a:off x="1737360" y="1810512"/>
            <a:ext cx="9539935" cy="1097280"/>
          </a:xfrm>
          <a:prstGeom prst="rect">
            <a:avLst/>
          </a:prstGeom>
          <a:noFill/>
        </p:spPr>
        <p:txBody>
          <a:bodyPr wrap="square" lIns="0" rIns="0" tIns="0" bIns="0">
            <a:spAutoFit/>
          </a:bodyPr>
          <a:lstStyle/>
          <a:p>
            <a:pPr>
              <a:defRPr sz="1300" b="1">
                <a:solidFill>
                  <a:srgbClr val="FFFFFF"/>
                </a:solidFill>
                <a:latin typeface="Arial"/>
              </a:defRPr>
            </a:pPr>
            <a:r>
              <a:t>Publisher Dateline Leakage in Datasets</a:t>
            </a:r>
          </a:p>
          <a:p>
            <a:pPr>
              <a:defRPr sz="950">
                <a:solidFill>
                  <a:srgbClr val="E2E8F0"/>
                </a:solidFill>
                <a:latin typeface="Arial"/>
              </a:defRPr>
            </a:pPr>
            <a:r>
              <a:t>Traditional benchmark datasets contain wire-service dateline headers such as 'WASHINGTON (Reuters) -'. Machine learning classifiers trained on uncurated corpora learn to associate Reuters tags with genuine news and their absence with fake news, achieving 99% accuracy through publisher memorization rather than learning genuine deception stylometry.</a:t>
            </a:r>
          </a:p>
        </p:txBody>
      </p:sp>
      <p:sp>
        <p:nvSpPr>
          <p:cNvPr id="10" name="Rounded Rectangle 9"/>
          <p:cNvSpPr/>
          <p:nvPr/>
        </p:nvSpPr>
        <p:spPr>
          <a:xfrm>
            <a:off x="731520" y="3246120"/>
            <a:ext cx="10728655" cy="1417320"/>
          </a:xfrm>
          <a:prstGeom prst="roundRect">
            <a:avLst/>
          </a:prstGeom>
          <a:solidFill>
            <a:srgbClr val="0D15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429000"/>
            <a:ext cx="731520" cy="914400"/>
          </a:xfrm>
          <a:prstGeom prst="rect">
            <a:avLst/>
          </a:prstGeom>
          <a:noFill/>
        </p:spPr>
        <p:txBody>
          <a:bodyPr wrap="square" lIns="0" rIns="0" tIns="0" bIns="0">
            <a:spAutoFit/>
          </a:bodyPr>
          <a:lstStyle/>
          <a:p>
            <a:pPr>
              <a:defRPr sz="2800" b="1">
                <a:solidFill>
                  <a:srgbClr val="F59E0B"/>
                </a:solidFill>
                <a:latin typeface="Arial"/>
              </a:defRPr>
            </a:pPr>
            <a:r>
              <a:t>02</a:t>
            </a:r>
          </a:p>
        </p:txBody>
      </p:sp>
      <p:sp>
        <p:nvSpPr>
          <p:cNvPr id="12" name="TextBox 11"/>
          <p:cNvSpPr txBox="1"/>
          <p:nvPr/>
        </p:nvSpPr>
        <p:spPr>
          <a:xfrm>
            <a:off x="1737360" y="3410712"/>
            <a:ext cx="9539935" cy="1097280"/>
          </a:xfrm>
          <a:prstGeom prst="rect">
            <a:avLst/>
          </a:prstGeom>
          <a:noFill/>
        </p:spPr>
        <p:txBody>
          <a:bodyPr wrap="square" lIns="0" rIns="0" tIns="0" bIns="0">
            <a:spAutoFit/>
          </a:bodyPr>
          <a:lstStyle/>
          <a:p>
            <a:pPr>
              <a:defRPr sz="1300" b="1">
                <a:solidFill>
                  <a:srgbClr val="FFFFFF"/>
                </a:solidFill>
                <a:latin typeface="Arial"/>
              </a:defRPr>
            </a:pPr>
            <a:r>
              <a:t>Black-Box Opacity &amp; Overconfident Margins</a:t>
            </a:r>
          </a:p>
          <a:p>
            <a:pPr>
              <a:defRPr sz="950">
                <a:solidFill>
                  <a:srgbClr val="E2E8F0"/>
                </a:solidFill>
                <a:latin typeface="Arial"/>
              </a:defRPr>
            </a:pPr>
            <a:r>
              <a:t>Standard neural and ensemble models output uncalibrated, monolithic confidence scores without explaining which phrases drove the verdict. Decision-makers cannot tell whether a classification was triggered by a genuine factual falsehood, sensational adjectives, or irrelevant stopword noise.</a:t>
            </a:r>
          </a:p>
        </p:txBody>
      </p:sp>
      <p:sp>
        <p:nvSpPr>
          <p:cNvPr id="13" name="Rounded Rectangle 12"/>
          <p:cNvSpPr/>
          <p:nvPr/>
        </p:nvSpPr>
        <p:spPr>
          <a:xfrm>
            <a:off x="731520" y="4846320"/>
            <a:ext cx="10728655" cy="1417320"/>
          </a:xfrm>
          <a:prstGeom prst="roundRect">
            <a:avLst/>
          </a:prstGeom>
          <a:solidFill>
            <a:srgbClr val="0D15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029200"/>
            <a:ext cx="731520" cy="914400"/>
          </a:xfrm>
          <a:prstGeom prst="rect">
            <a:avLst/>
          </a:prstGeom>
          <a:noFill/>
        </p:spPr>
        <p:txBody>
          <a:bodyPr wrap="square" lIns="0" rIns="0" tIns="0" bIns="0">
            <a:spAutoFit/>
          </a:bodyPr>
          <a:lstStyle/>
          <a:p>
            <a:pPr>
              <a:defRPr sz="2800" b="1">
                <a:solidFill>
                  <a:srgbClr val="A855F7"/>
                </a:solidFill>
                <a:latin typeface="Arial"/>
              </a:defRPr>
            </a:pPr>
            <a:r>
              <a:t>03</a:t>
            </a:r>
          </a:p>
        </p:txBody>
      </p:sp>
      <p:sp>
        <p:nvSpPr>
          <p:cNvPr id="15" name="TextBox 14"/>
          <p:cNvSpPr txBox="1"/>
          <p:nvPr/>
        </p:nvSpPr>
        <p:spPr>
          <a:xfrm>
            <a:off x="1737360" y="5010912"/>
            <a:ext cx="9539935" cy="1097280"/>
          </a:xfrm>
          <a:prstGeom prst="rect">
            <a:avLst/>
          </a:prstGeom>
          <a:noFill/>
        </p:spPr>
        <p:txBody>
          <a:bodyPr wrap="square" lIns="0" rIns="0" tIns="0" bIns="0">
            <a:spAutoFit/>
          </a:bodyPr>
          <a:lstStyle/>
          <a:p>
            <a:pPr>
              <a:defRPr sz="1300" b="1">
                <a:solidFill>
                  <a:srgbClr val="FFFFFF"/>
                </a:solidFill>
                <a:latin typeface="Arial"/>
              </a:defRPr>
            </a:pPr>
            <a:r>
              <a:t>The Epistemic Disconnect: Style vs. Ground Truth</a:t>
            </a:r>
          </a:p>
          <a:p>
            <a:pPr>
              <a:defRPr sz="950">
                <a:solidFill>
                  <a:srgbClr val="E2E8F0"/>
                </a:solidFill>
                <a:latin typeface="Arial"/>
              </a:defRPr>
            </a:pPr>
            <a:r>
              <a:t>Stylometric NLP analyzes linguistic distributions (hyperbolic phrasing, punctuation, sentiment). It cannot verify whether a real-world event took place. A sophisticated disinformation agent can write a fabricated narrative in flawless journalistic prose, completely bypassing stylometric filters.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rIns="0" tIns="0" bIns="0">
            <a:spAutoFit/>
          </a:bodyPr>
          <a:lstStyle/>
          <a:p>
            <a:pPr>
              <a:defRPr sz="950" b="1">
                <a:solidFill>
                  <a:srgbClr val="00F2FE"/>
                </a:solidFill>
                <a:latin typeface="Arial"/>
              </a:defRPr>
            </a:pPr>
            <a:r>
              <a:t>04 • PROJECT INTRODUCTION (POINTS)</a:t>
            </a:r>
          </a:p>
        </p:txBody>
      </p:sp>
      <p:sp>
        <p:nvSpPr>
          <p:cNvPr id="4" name="TextBox 3"/>
          <p:cNvSpPr txBox="1"/>
          <p:nvPr/>
        </p:nvSpPr>
        <p:spPr>
          <a:xfrm>
            <a:off x="731520" y="640080"/>
            <a:ext cx="10728655" cy="457200"/>
          </a:xfrm>
          <a:prstGeom prst="rect">
            <a:avLst/>
          </a:prstGeom>
          <a:noFill/>
        </p:spPr>
        <p:txBody>
          <a:bodyPr wrap="square" lIns="0" rIns="0" tIns="0" bIns="0">
            <a:spAutoFit/>
          </a:bodyPr>
          <a:lstStyle/>
          <a:p>
            <a:pPr>
              <a:defRPr sz="1900" b="1">
                <a:solidFill>
                  <a:srgbClr val="FFFFFF"/>
                </a:solidFill>
                <a:latin typeface="Arial"/>
              </a:defRPr>
            </a:pPr>
            <a:r>
              <a:t>Project Objectives &amp; Engineering Milestones</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050">
                <a:solidFill>
                  <a:srgbClr val="94A3B8"/>
                </a:solidFill>
                <a:latin typeface="Arial"/>
              </a:defRPr>
            </a:pPr>
            <a:r>
              <a:t>Key Concrete Technical Goals Achieved in the VeriScope AI Implementation</a:t>
            </a:r>
          </a:p>
        </p:txBody>
      </p:sp>
      <p:sp>
        <p:nvSpPr>
          <p:cNvPr id="6" name="Rectangle 5"/>
          <p:cNvSpPr/>
          <p:nvPr/>
        </p:nvSpPr>
        <p:spPr>
          <a:xfrm>
            <a:off x="731520" y="1389888"/>
            <a:ext cx="10728655" cy="18288"/>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5212080" cy="1417320"/>
          </a:xfrm>
          <a:prstGeom prst="roundRect">
            <a:avLst/>
          </a:prstGeom>
          <a:solidFill>
            <a:srgbClr val="0D15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10512"/>
            <a:ext cx="4846320" cy="1097280"/>
          </a:xfrm>
          <a:prstGeom prst="rect">
            <a:avLst/>
          </a:prstGeom>
          <a:noFill/>
        </p:spPr>
        <p:txBody>
          <a:bodyPr wrap="square" lIns="0" rIns="0" tIns="0" bIns="0">
            <a:spAutoFit/>
          </a:bodyPr>
          <a:lstStyle/>
          <a:p>
            <a:pPr>
              <a:defRPr sz="1100" b="1">
                <a:solidFill>
                  <a:srgbClr val="00F2FE"/>
                </a:solidFill>
                <a:latin typeface="Arial"/>
              </a:defRPr>
            </a:pPr>
            <a:r>
              <a:t>1. Multimodal Text &amp; Vision Ingestion</a:t>
            </a:r>
          </a:p>
          <a:p>
            <a:pPr>
              <a:defRPr sz="850">
                <a:solidFill>
                  <a:srgbClr val="E2E8F0"/>
                </a:solidFill>
                <a:latin typeface="Arial"/>
              </a:defRPr>
            </a:pPr>
            <a:r>
              <a:t>Enable seamless editorial input via direct text entry, URL pasting, and Tesseract 5.5 OCR screenshot analysis with adaptive contrast correction.</a:t>
            </a:r>
          </a:p>
        </p:txBody>
      </p:sp>
      <p:sp>
        <p:nvSpPr>
          <p:cNvPr id="9" name="Rounded Rectangle 8"/>
          <p:cNvSpPr/>
          <p:nvPr/>
        </p:nvSpPr>
        <p:spPr>
          <a:xfrm>
            <a:off x="6248095" y="1645920"/>
            <a:ext cx="5212080" cy="1417320"/>
          </a:xfrm>
          <a:prstGeom prst="roundRect">
            <a:avLst/>
          </a:prstGeom>
          <a:solidFill>
            <a:srgbClr val="0D15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1810512"/>
            <a:ext cx="4846320" cy="1097280"/>
          </a:xfrm>
          <a:prstGeom prst="rect">
            <a:avLst/>
          </a:prstGeom>
          <a:noFill/>
        </p:spPr>
        <p:txBody>
          <a:bodyPr wrap="square" lIns="0" rIns="0" tIns="0" bIns="0">
            <a:spAutoFit/>
          </a:bodyPr>
          <a:lstStyle/>
          <a:p>
            <a:pPr>
              <a:defRPr sz="1100" b="1">
                <a:solidFill>
                  <a:srgbClr val="14B8A6"/>
                </a:solidFill>
                <a:latin typeface="Arial"/>
              </a:defRPr>
            </a:pPr>
            <a:r>
              <a:t>2. Leakage-Free Dataset Hygiene</a:t>
            </a:r>
          </a:p>
          <a:p>
            <a:pPr>
              <a:defRPr sz="850">
                <a:solidFill>
                  <a:srgbClr val="E2E8F0"/>
                </a:solidFill>
                <a:latin typeface="Arial"/>
              </a:defRPr>
            </a:pPr>
            <a:r>
              <a:t>Integrate the 44,267-article ISOT corpus, purge wire-service dateline headers, and engineer group-aware splitting ensuring 0% cross-split duplication.</a:t>
            </a:r>
          </a:p>
        </p:txBody>
      </p:sp>
      <p:sp>
        <p:nvSpPr>
          <p:cNvPr id="11" name="Rounded Rectangle 10"/>
          <p:cNvSpPr/>
          <p:nvPr/>
        </p:nvSpPr>
        <p:spPr>
          <a:xfrm>
            <a:off x="731520" y="3246120"/>
            <a:ext cx="5212080" cy="1417320"/>
          </a:xfrm>
          <a:prstGeom prst="roundRect">
            <a:avLst/>
          </a:prstGeom>
          <a:solidFill>
            <a:srgbClr val="0D15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410712"/>
            <a:ext cx="4846320" cy="1097280"/>
          </a:xfrm>
          <a:prstGeom prst="rect">
            <a:avLst/>
          </a:prstGeom>
          <a:noFill/>
        </p:spPr>
        <p:txBody>
          <a:bodyPr wrap="square" lIns="0" rIns="0" tIns="0" bIns="0">
            <a:spAutoFit/>
          </a:bodyPr>
          <a:lstStyle/>
          <a:p>
            <a:pPr>
              <a:defRPr sz="1100" b="1">
                <a:solidFill>
                  <a:srgbClr val="38BDF8"/>
                </a:solidFill>
                <a:latin typeface="Arial"/>
              </a:defRPr>
            </a:pPr>
            <a:r>
              <a:t>3. Calibrated Multi-Model Classification</a:t>
            </a:r>
          </a:p>
          <a:p>
            <a:pPr>
              <a:defRPr sz="850">
                <a:solidFill>
                  <a:srgbClr val="E2E8F0"/>
                </a:solidFill>
                <a:latin typeface="Arial"/>
              </a:defRPr>
            </a:pPr>
            <a:r>
              <a:t>Train and benchmark Logistic Regression, Multinomial Naive Bayes, and Linear SVM with 3-fold Platt scaling for true bounded posterior probabilities.</a:t>
            </a:r>
          </a:p>
        </p:txBody>
      </p:sp>
      <p:sp>
        <p:nvSpPr>
          <p:cNvPr id="13" name="Rounded Rectangle 12"/>
          <p:cNvSpPr/>
          <p:nvPr/>
        </p:nvSpPr>
        <p:spPr>
          <a:xfrm>
            <a:off x="6248095" y="3246120"/>
            <a:ext cx="5212080" cy="1417320"/>
          </a:xfrm>
          <a:prstGeom prst="roundRect">
            <a:avLst/>
          </a:prstGeom>
          <a:solidFill>
            <a:srgbClr val="0D15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0975" y="3410712"/>
            <a:ext cx="4846320" cy="1097280"/>
          </a:xfrm>
          <a:prstGeom prst="rect">
            <a:avLst/>
          </a:prstGeom>
          <a:noFill/>
        </p:spPr>
        <p:txBody>
          <a:bodyPr wrap="square" lIns="0" rIns="0" tIns="0" bIns="0">
            <a:spAutoFit/>
          </a:bodyPr>
          <a:lstStyle/>
          <a:p>
            <a:pPr>
              <a:defRPr sz="1100" b="1">
                <a:solidFill>
                  <a:srgbClr val="A855F7"/>
                </a:solidFill>
                <a:latin typeface="Arial"/>
              </a:defRPr>
            </a:pPr>
            <a:r>
              <a:t>4. Dual Explainable AI (XAI) Engine</a:t>
            </a:r>
          </a:p>
          <a:p>
            <a:pPr>
              <a:defRPr sz="850">
                <a:solidFill>
                  <a:srgbClr val="E2E8F0"/>
                </a:solidFill>
                <a:latin typeface="Arial"/>
              </a:defRPr>
            </a:pPr>
            <a:r>
              <a:t>Implement simultaneous LIME (local surrogate perturbations) and SHAP (exact closed-form linear Shapley values) to visualize token-level influence.</a:t>
            </a:r>
          </a:p>
        </p:txBody>
      </p:sp>
      <p:sp>
        <p:nvSpPr>
          <p:cNvPr id="15" name="Rounded Rectangle 14"/>
          <p:cNvSpPr/>
          <p:nvPr/>
        </p:nvSpPr>
        <p:spPr>
          <a:xfrm>
            <a:off x="731520" y="4846320"/>
            <a:ext cx="5212080" cy="1417320"/>
          </a:xfrm>
          <a:prstGeom prst="roundRect">
            <a:avLst/>
          </a:prstGeom>
          <a:solidFill>
            <a:srgbClr val="0D15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010912"/>
            <a:ext cx="4846320" cy="1097280"/>
          </a:xfrm>
          <a:prstGeom prst="rect">
            <a:avLst/>
          </a:prstGeom>
          <a:noFill/>
        </p:spPr>
        <p:txBody>
          <a:bodyPr wrap="square" lIns="0" rIns="0" tIns="0" bIns="0">
            <a:spAutoFit/>
          </a:bodyPr>
          <a:lstStyle/>
          <a:p>
            <a:pPr>
              <a:defRPr sz="1100" b="1">
                <a:solidFill>
                  <a:srgbClr val="00F2FE"/>
                </a:solidFill>
                <a:latin typeface="Arial"/>
              </a:defRPr>
            </a:pPr>
            <a:r>
              <a:t>5. Cross-Encoder NLI Evidence Grounding</a:t>
            </a:r>
          </a:p>
          <a:p>
            <a:pPr>
              <a:defRPr sz="850">
                <a:solidFill>
                  <a:srgbClr val="E2E8F0"/>
                </a:solidFill>
                <a:latin typeface="Arial"/>
              </a:defRPr>
            </a:pPr>
            <a:r>
              <a:t>Integrate a 435M-parameter DeBERTa-v3 cross-encoder to verify claims against external evidence with Entailment, Contradiction, and Neutral scoring.</a:t>
            </a:r>
          </a:p>
        </p:txBody>
      </p:sp>
      <p:sp>
        <p:nvSpPr>
          <p:cNvPr id="17" name="Rounded Rectangle 16"/>
          <p:cNvSpPr/>
          <p:nvPr/>
        </p:nvSpPr>
        <p:spPr>
          <a:xfrm>
            <a:off x="6248095" y="4846320"/>
            <a:ext cx="5212080" cy="1417320"/>
          </a:xfrm>
          <a:prstGeom prst="roundRect">
            <a:avLst/>
          </a:prstGeom>
          <a:solidFill>
            <a:srgbClr val="0D15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30975" y="5010912"/>
            <a:ext cx="4846320" cy="1097280"/>
          </a:xfrm>
          <a:prstGeom prst="rect">
            <a:avLst/>
          </a:prstGeom>
          <a:noFill/>
        </p:spPr>
        <p:txBody>
          <a:bodyPr wrap="square" lIns="0" rIns="0" tIns="0" bIns="0">
            <a:spAutoFit/>
          </a:bodyPr>
          <a:lstStyle/>
          <a:p>
            <a:pPr>
              <a:defRPr sz="1100" b="1">
                <a:solidFill>
                  <a:srgbClr val="22C55E"/>
                </a:solidFill>
                <a:latin typeface="Arial"/>
              </a:defRPr>
            </a:pPr>
            <a:r>
              <a:t>6. Enterprise Auditability &amp; Persistence</a:t>
            </a:r>
          </a:p>
          <a:p>
            <a:pPr>
              <a:defRPr sz="850">
                <a:solidFill>
                  <a:srgbClr val="E2E8F0"/>
                </a:solidFill>
                <a:latin typeface="Arial"/>
              </a:defRPr>
            </a:pPr>
            <a:r>
              <a:t>Develop an embedded SQLite audit trail with WAL concurrency, tamper-evident history, and automated 90-day retention pruning.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rIns="0" tIns="0" bIns="0">
            <a:spAutoFit/>
          </a:bodyPr>
          <a:lstStyle/>
          <a:p>
            <a:pPr>
              <a:defRPr sz="950" b="1">
                <a:solidFill>
                  <a:srgbClr val="00F2FE"/>
                </a:solidFill>
                <a:latin typeface="Arial"/>
              </a:defRPr>
            </a:pPr>
            <a:r>
              <a:t>04 • PROJECT INTRODUCTION (POINTS)</a:t>
            </a:r>
          </a:p>
        </p:txBody>
      </p:sp>
      <p:sp>
        <p:nvSpPr>
          <p:cNvPr id="4" name="TextBox 3"/>
          <p:cNvSpPr txBox="1"/>
          <p:nvPr/>
        </p:nvSpPr>
        <p:spPr>
          <a:xfrm>
            <a:off x="731520" y="640080"/>
            <a:ext cx="10728655" cy="457200"/>
          </a:xfrm>
          <a:prstGeom prst="rect">
            <a:avLst/>
          </a:prstGeom>
          <a:noFill/>
        </p:spPr>
        <p:txBody>
          <a:bodyPr wrap="square" lIns="0" rIns="0" tIns="0" bIns="0">
            <a:spAutoFit/>
          </a:bodyPr>
          <a:lstStyle/>
          <a:p>
            <a:pPr>
              <a:defRPr sz="1900" b="1">
                <a:solidFill>
                  <a:srgbClr val="FFFFFF"/>
                </a:solidFill>
                <a:latin typeface="Arial"/>
              </a:defRPr>
            </a:pPr>
            <a:r>
              <a:t>End-to-End Workflow &amp; Target User Personas</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050">
                <a:solidFill>
                  <a:srgbClr val="94A3B8"/>
                </a:solidFill>
                <a:latin typeface="Arial"/>
              </a:defRPr>
            </a:pPr>
            <a:r>
              <a:t>Operational Pipeline Execution &amp; Key Stakeholder Beneficiaries</a:t>
            </a:r>
          </a:p>
        </p:txBody>
      </p:sp>
      <p:sp>
        <p:nvSpPr>
          <p:cNvPr id="6" name="Rectangle 5"/>
          <p:cNvSpPr/>
          <p:nvPr/>
        </p:nvSpPr>
        <p:spPr>
          <a:xfrm>
            <a:off x="731520" y="1389888"/>
            <a:ext cx="10728655" cy="18288"/>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1645920" cy="1645920"/>
          </a:xfrm>
          <a:prstGeom prst="roundRect">
            <a:avLst/>
          </a:prstGeom>
          <a:solidFill>
            <a:srgbClr val="111C33"/>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83080"/>
            <a:ext cx="1463040" cy="1371600"/>
          </a:xfrm>
          <a:prstGeom prst="rect">
            <a:avLst/>
          </a:prstGeom>
          <a:noFill/>
        </p:spPr>
        <p:txBody>
          <a:bodyPr wrap="square" lIns="0" rIns="0" tIns="0" bIns="0">
            <a:spAutoFit/>
          </a:bodyPr>
          <a:lstStyle/>
          <a:p>
            <a:pPr>
              <a:defRPr sz="1400" b="1">
                <a:solidFill>
                  <a:srgbClr val="00F2FE"/>
                </a:solidFill>
                <a:latin typeface="Arial"/>
              </a:defRPr>
            </a:pPr>
            <a:r>
              <a:t>01</a:t>
            </a:r>
          </a:p>
          <a:p>
            <a:pPr>
              <a:defRPr sz="1000" b="1">
                <a:solidFill>
                  <a:srgbClr val="FFFFFF"/>
                </a:solidFill>
                <a:latin typeface="Arial"/>
              </a:defRPr>
            </a:pPr>
            <a:r>
              <a:t>INGESTION</a:t>
            </a:r>
          </a:p>
          <a:p>
            <a:pPr>
              <a:defRPr sz="800">
                <a:solidFill>
                  <a:srgbClr val="94A3B8"/>
                </a:solidFill>
                <a:latin typeface="Arial"/>
              </a:defRPr>
            </a:pPr>
            <a:r>
              <a:t>Text Entry or OCR Screenshot</a:t>
            </a:r>
          </a:p>
        </p:txBody>
      </p:sp>
      <p:sp>
        <p:nvSpPr>
          <p:cNvPr id="9" name="Rounded Rectangle 8"/>
          <p:cNvSpPr/>
          <p:nvPr/>
        </p:nvSpPr>
        <p:spPr>
          <a:xfrm>
            <a:off x="2542032" y="1645920"/>
            <a:ext cx="1645920" cy="1645920"/>
          </a:xfrm>
          <a:prstGeom prst="roundRect">
            <a:avLst/>
          </a:prstGeom>
          <a:solidFill>
            <a:srgbClr val="111C33"/>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33472" y="1783080"/>
            <a:ext cx="1463040" cy="1371600"/>
          </a:xfrm>
          <a:prstGeom prst="rect">
            <a:avLst/>
          </a:prstGeom>
          <a:noFill/>
        </p:spPr>
        <p:txBody>
          <a:bodyPr wrap="square" lIns="0" rIns="0" tIns="0" bIns="0">
            <a:spAutoFit/>
          </a:bodyPr>
          <a:lstStyle/>
          <a:p>
            <a:pPr>
              <a:defRPr sz="1400" b="1">
                <a:solidFill>
                  <a:srgbClr val="00F2FE"/>
                </a:solidFill>
                <a:latin typeface="Arial"/>
              </a:defRPr>
            </a:pPr>
            <a:r>
              <a:t>02</a:t>
            </a:r>
          </a:p>
          <a:p>
            <a:pPr>
              <a:defRPr sz="1000" b="1">
                <a:solidFill>
                  <a:srgbClr val="FFFFFF"/>
                </a:solidFill>
                <a:latin typeface="Arial"/>
              </a:defRPr>
            </a:pPr>
            <a:r>
              <a:t>PREPROCESS</a:t>
            </a:r>
          </a:p>
          <a:p>
            <a:pPr>
              <a:defRPr sz="800">
                <a:solidFill>
                  <a:srgbClr val="94A3B8"/>
                </a:solidFill>
                <a:latin typeface="Arial"/>
              </a:defRPr>
            </a:pPr>
            <a:r>
              <a:t>Wire-Tag Regex &amp; Tokenizer</a:t>
            </a:r>
          </a:p>
        </p:txBody>
      </p:sp>
      <p:sp>
        <p:nvSpPr>
          <p:cNvPr id="11" name="Rounded Rectangle 10"/>
          <p:cNvSpPr/>
          <p:nvPr/>
        </p:nvSpPr>
        <p:spPr>
          <a:xfrm>
            <a:off x="4352544" y="1645920"/>
            <a:ext cx="1645920" cy="1645920"/>
          </a:xfrm>
          <a:prstGeom prst="roundRect">
            <a:avLst/>
          </a:prstGeom>
          <a:solidFill>
            <a:srgbClr val="111C33"/>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43984" y="1783080"/>
            <a:ext cx="1463040" cy="1371600"/>
          </a:xfrm>
          <a:prstGeom prst="rect">
            <a:avLst/>
          </a:prstGeom>
          <a:noFill/>
        </p:spPr>
        <p:txBody>
          <a:bodyPr wrap="square" lIns="0" rIns="0" tIns="0" bIns="0">
            <a:spAutoFit/>
          </a:bodyPr>
          <a:lstStyle/>
          <a:p>
            <a:pPr>
              <a:defRPr sz="1400" b="1">
                <a:solidFill>
                  <a:srgbClr val="00F2FE"/>
                </a:solidFill>
                <a:latin typeface="Arial"/>
              </a:defRPr>
            </a:pPr>
            <a:r>
              <a:t>03</a:t>
            </a:r>
          </a:p>
          <a:p>
            <a:pPr>
              <a:defRPr sz="1000" b="1">
                <a:solidFill>
                  <a:srgbClr val="FFFFFF"/>
                </a:solidFill>
                <a:latin typeface="Arial"/>
              </a:defRPr>
            </a:pPr>
            <a:r>
              <a:t>FEATURES</a:t>
            </a:r>
          </a:p>
          <a:p>
            <a:pPr>
              <a:defRPr sz="800">
                <a:solidFill>
                  <a:srgbClr val="94A3B8"/>
                </a:solidFill>
                <a:latin typeface="Arial"/>
              </a:defRPr>
            </a:pPr>
            <a:r>
              <a:t>Sublinear TF-IDF (5,000 Dim)</a:t>
            </a:r>
          </a:p>
        </p:txBody>
      </p:sp>
      <p:sp>
        <p:nvSpPr>
          <p:cNvPr id="13" name="Rounded Rectangle 12"/>
          <p:cNvSpPr/>
          <p:nvPr/>
        </p:nvSpPr>
        <p:spPr>
          <a:xfrm>
            <a:off x="6163056" y="1645920"/>
            <a:ext cx="1645920" cy="1645920"/>
          </a:xfrm>
          <a:prstGeom prst="roundRect">
            <a:avLst/>
          </a:prstGeom>
          <a:solidFill>
            <a:srgbClr val="111C33"/>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54496" y="1783080"/>
            <a:ext cx="1463040" cy="1371600"/>
          </a:xfrm>
          <a:prstGeom prst="rect">
            <a:avLst/>
          </a:prstGeom>
          <a:noFill/>
        </p:spPr>
        <p:txBody>
          <a:bodyPr wrap="square" lIns="0" rIns="0" tIns="0" bIns="0">
            <a:spAutoFit/>
          </a:bodyPr>
          <a:lstStyle/>
          <a:p>
            <a:pPr>
              <a:defRPr sz="1400" b="1">
                <a:solidFill>
                  <a:srgbClr val="00F2FE"/>
                </a:solidFill>
                <a:latin typeface="Arial"/>
              </a:defRPr>
            </a:pPr>
            <a:r>
              <a:t>04</a:t>
            </a:r>
          </a:p>
          <a:p>
            <a:pPr>
              <a:defRPr sz="1000" b="1">
                <a:solidFill>
                  <a:srgbClr val="FFFFFF"/>
                </a:solidFill>
                <a:latin typeface="Arial"/>
              </a:defRPr>
            </a:pPr>
            <a:r>
              <a:t>CLASSIFY</a:t>
            </a:r>
          </a:p>
          <a:p>
            <a:pPr>
              <a:defRPr sz="800">
                <a:solidFill>
                  <a:srgbClr val="94A3B8"/>
                </a:solidFill>
                <a:latin typeface="Arial"/>
              </a:defRPr>
            </a:pPr>
            <a:r>
              <a:t>Platt-Calibrated Linear SVM</a:t>
            </a:r>
          </a:p>
        </p:txBody>
      </p:sp>
      <p:sp>
        <p:nvSpPr>
          <p:cNvPr id="15" name="Rounded Rectangle 14"/>
          <p:cNvSpPr/>
          <p:nvPr/>
        </p:nvSpPr>
        <p:spPr>
          <a:xfrm>
            <a:off x="7973568" y="1645920"/>
            <a:ext cx="1645920" cy="1645920"/>
          </a:xfrm>
          <a:prstGeom prst="roundRect">
            <a:avLst/>
          </a:prstGeom>
          <a:solidFill>
            <a:srgbClr val="111C33"/>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65008" y="1783080"/>
            <a:ext cx="1463040" cy="1371600"/>
          </a:xfrm>
          <a:prstGeom prst="rect">
            <a:avLst/>
          </a:prstGeom>
          <a:noFill/>
        </p:spPr>
        <p:txBody>
          <a:bodyPr wrap="square" lIns="0" rIns="0" tIns="0" bIns="0">
            <a:spAutoFit/>
          </a:bodyPr>
          <a:lstStyle/>
          <a:p>
            <a:pPr>
              <a:defRPr sz="1400" b="1">
                <a:solidFill>
                  <a:srgbClr val="00F2FE"/>
                </a:solidFill>
                <a:latin typeface="Arial"/>
              </a:defRPr>
            </a:pPr>
            <a:r>
              <a:t>05</a:t>
            </a:r>
          </a:p>
          <a:p>
            <a:pPr>
              <a:defRPr sz="1000" b="1">
                <a:solidFill>
                  <a:srgbClr val="FFFFFF"/>
                </a:solidFill>
                <a:latin typeface="Arial"/>
              </a:defRPr>
            </a:pPr>
            <a:r>
              <a:t>EXPLAIN</a:t>
            </a:r>
          </a:p>
          <a:p>
            <a:pPr>
              <a:defRPr sz="800">
                <a:solidFill>
                  <a:srgbClr val="94A3B8"/>
                </a:solidFill>
                <a:latin typeface="Arial"/>
              </a:defRPr>
            </a:pPr>
            <a:r>
              <a:t>Dual LIME &amp; SHAP Weights</a:t>
            </a:r>
          </a:p>
        </p:txBody>
      </p:sp>
      <p:sp>
        <p:nvSpPr>
          <p:cNvPr id="17" name="Rounded Rectangle 16"/>
          <p:cNvSpPr/>
          <p:nvPr/>
        </p:nvSpPr>
        <p:spPr>
          <a:xfrm>
            <a:off x="9784080" y="1645920"/>
            <a:ext cx="1645920" cy="1645920"/>
          </a:xfrm>
          <a:prstGeom prst="roundRect">
            <a:avLst/>
          </a:prstGeom>
          <a:solidFill>
            <a:srgbClr val="111C33"/>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0" y="1783080"/>
            <a:ext cx="1463040" cy="1371600"/>
          </a:xfrm>
          <a:prstGeom prst="rect">
            <a:avLst/>
          </a:prstGeom>
          <a:noFill/>
        </p:spPr>
        <p:txBody>
          <a:bodyPr wrap="square" lIns="0" rIns="0" tIns="0" bIns="0">
            <a:spAutoFit/>
          </a:bodyPr>
          <a:lstStyle/>
          <a:p>
            <a:pPr>
              <a:defRPr sz="1400" b="1">
                <a:solidFill>
                  <a:srgbClr val="00F2FE"/>
                </a:solidFill>
                <a:latin typeface="Arial"/>
              </a:defRPr>
            </a:pPr>
            <a:r>
              <a:t>06</a:t>
            </a:r>
          </a:p>
          <a:p>
            <a:pPr>
              <a:defRPr sz="1000" b="1">
                <a:solidFill>
                  <a:srgbClr val="FFFFFF"/>
                </a:solidFill>
                <a:latin typeface="Arial"/>
              </a:defRPr>
            </a:pPr>
            <a:r>
              <a:t>GROUNDING</a:t>
            </a:r>
          </a:p>
          <a:p>
            <a:pPr>
              <a:defRPr sz="800">
                <a:solidFill>
                  <a:srgbClr val="94A3B8"/>
                </a:solidFill>
                <a:latin typeface="Arial"/>
              </a:defRPr>
            </a:pPr>
            <a:r>
              <a:t>DeBERTa-v3 NLI + SQLite Log</a:t>
            </a:r>
          </a:p>
        </p:txBody>
      </p:sp>
      <p:sp>
        <p:nvSpPr>
          <p:cNvPr id="19" name="Rounded Rectangle 18"/>
          <p:cNvSpPr/>
          <p:nvPr/>
        </p:nvSpPr>
        <p:spPr>
          <a:xfrm>
            <a:off x="731520" y="3566160"/>
            <a:ext cx="2560320" cy="2560320"/>
          </a:xfrm>
          <a:prstGeom prst="roundRect">
            <a:avLst/>
          </a:prstGeom>
          <a:solidFill>
            <a:srgbClr val="0D1526"/>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749040"/>
            <a:ext cx="2286000" cy="2194560"/>
          </a:xfrm>
          <a:prstGeom prst="rect">
            <a:avLst/>
          </a:prstGeom>
          <a:noFill/>
        </p:spPr>
        <p:txBody>
          <a:bodyPr wrap="square" lIns="0" rIns="0" tIns="0" bIns="0">
            <a:spAutoFit/>
          </a:bodyPr>
          <a:lstStyle/>
          <a:p>
            <a:pPr>
              <a:defRPr sz="1050" b="1">
                <a:solidFill>
                  <a:srgbClr val="00F2FE"/>
                </a:solidFill>
                <a:latin typeface="Arial"/>
              </a:defRPr>
            </a:pPr>
            <a:r>
              <a:t>FACT-CHECKERS &amp; NEWSROOMS</a:t>
            </a:r>
          </a:p>
          <a:p/>
          <a:p>
            <a:pPr>
              <a:defRPr sz="900">
                <a:solidFill>
                  <a:srgbClr val="E2E8F0"/>
                </a:solidFill>
                <a:latin typeface="Arial"/>
              </a:defRPr>
            </a:pPr>
            <a:r>
              <a:t>Rapid editorial triage of viral social claims with token-level justification and external evidence references.</a:t>
            </a:r>
          </a:p>
        </p:txBody>
      </p:sp>
      <p:sp>
        <p:nvSpPr>
          <p:cNvPr id="21" name="Rounded Rectangle 20"/>
          <p:cNvSpPr/>
          <p:nvPr/>
        </p:nvSpPr>
        <p:spPr>
          <a:xfrm>
            <a:off x="3447288" y="3566160"/>
            <a:ext cx="2560320" cy="2560320"/>
          </a:xfrm>
          <a:prstGeom prst="roundRect">
            <a:avLst/>
          </a:prstGeom>
          <a:solidFill>
            <a:srgbClr val="0D1526"/>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84448" y="3749040"/>
            <a:ext cx="2286000" cy="2194560"/>
          </a:xfrm>
          <a:prstGeom prst="rect">
            <a:avLst/>
          </a:prstGeom>
          <a:noFill/>
        </p:spPr>
        <p:txBody>
          <a:bodyPr wrap="square" lIns="0" rIns="0" tIns="0" bIns="0">
            <a:spAutoFit/>
          </a:bodyPr>
          <a:lstStyle/>
          <a:p>
            <a:pPr>
              <a:defRPr sz="1050" b="1">
                <a:solidFill>
                  <a:srgbClr val="14B8A6"/>
                </a:solidFill>
                <a:latin typeface="Arial"/>
              </a:defRPr>
            </a:pPr>
            <a:r>
              <a:t>ACADEMIC AI RESEARCHERS</a:t>
            </a:r>
          </a:p>
          <a:p/>
          <a:p>
            <a:pPr>
              <a:defRPr sz="900">
                <a:solidFill>
                  <a:srgbClr val="E2E8F0"/>
                </a:solidFill>
                <a:latin typeface="Arial"/>
              </a:defRPr>
            </a:pPr>
            <a:r>
              <a:t>Empirical benchmarking of XAI explanation fidelity (Top-k Jaccard, sign concordance, token masking tests).</a:t>
            </a:r>
          </a:p>
        </p:txBody>
      </p:sp>
      <p:sp>
        <p:nvSpPr>
          <p:cNvPr id="23" name="Rounded Rectangle 22"/>
          <p:cNvSpPr/>
          <p:nvPr/>
        </p:nvSpPr>
        <p:spPr>
          <a:xfrm>
            <a:off x="6163056" y="3566160"/>
            <a:ext cx="2560320" cy="2560320"/>
          </a:xfrm>
          <a:prstGeom prst="roundRect">
            <a:avLst/>
          </a:prstGeom>
          <a:solidFill>
            <a:srgbClr val="0D1526"/>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0216" y="3749040"/>
            <a:ext cx="2286000" cy="2194560"/>
          </a:xfrm>
          <a:prstGeom prst="rect">
            <a:avLst/>
          </a:prstGeom>
          <a:noFill/>
        </p:spPr>
        <p:txBody>
          <a:bodyPr wrap="square" lIns="0" rIns="0" tIns="0" bIns="0">
            <a:spAutoFit/>
          </a:bodyPr>
          <a:lstStyle/>
          <a:p>
            <a:pPr>
              <a:defRPr sz="1050" b="1">
                <a:solidFill>
                  <a:srgbClr val="A855F7"/>
                </a:solidFill>
                <a:latin typeface="Arial"/>
              </a:defRPr>
            </a:pPr>
            <a:r>
              <a:t>MEDIA LITERACY EDUCATORS</a:t>
            </a:r>
          </a:p>
          <a:p/>
          <a:p>
            <a:pPr>
              <a:defRPr sz="900">
                <a:solidFill>
                  <a:srgbClr val="E2E8F0"/>
                </a:solidFill>
                <a:latin typeface="Arial"/>
              </a:defRPr>
            </a:pPr>
            <a:r>
              <a:t>Teaching students and citizens how algorithmic models assess text and where statistical AI fails.</a:t>
            </a:r>
          </a:p>
        </p:txBody>
      </p:sp>
      <p:sp>
        <p:nvSpPr>
          <p:cNvPr id="25" name="Rounded Rectangle 24"/>
          <p:cNvSpPr/>
          <p:nvPr/>
        </p:nvSpPr>
        <p:spPr>
          <a:xfrm>
            <a:off x="8878824" y="3566160"/>
            <a:ext cx="2560320" cy="2560320"/>
          </a:xfrm>
          <a:prstGeom prst="roundRect">
            <a:avLst/>
          </a:prstGeom>
          <a:solidFill>
            <a:srgbClr val="0D15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15984" y="3749040"/>
            <a:ext cx="2286000" cy="2194560"/>
          </a:xfrm>
          <a:prstGeom prst="rect">
            <a:avLst/>
          </a:prstGeom>
          <a:noFill/>
        </p:spPr>
        <p:txBody>
          <a:bodyPr wrap="square" lIns="0" rIns="0" tIns="0" bIns="0">
            <a:spAutoFit/>
          </a:bodyPr>
          <a:lstStyle/>
          <a:p>
            <a:pPr>
              <a:defRPr sz="1050" b="1">
                <a:solidFill>
                  <a:srgbClr val="38BDF8"/>
                </a:solidFill>
                <a:latin typeface="Arial"/>
              </a:defRPr>
            </a:pPr>
            <a:r>
              <a:t>GENERAL NEWS CONSUMERS</a:t>
            </a:r>
          </a:p>
          <a:p/>
          <a:p>
            <a:pPr>
              <a:defRPr sz="900">
                <a:solidFill>
                  <a:srgbClr val="E2E8F0"/>
                </a:solidFill>
                <a:latin typeface="Arial"/>
              </a:defRPr>
            </a:pPr>
            <a:r>
              <a:t>A transparent second-opinion companion that demystifies headlines without claiming absolute truth.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rIns="0" tIns="0" bIns="0">
            <a:spAutoFit/>
          </a:bodyPr>
          <a:lstStyle/>
          <a:p>
            <a:pPr>
              <a:defRPr sz="950" b="1">
                <a:solidFill>
                  <a:srgbClr val="00F2FE"/>
                </a:solidFill>
                <a:latin typeface="Arial"/>
              </a:defRPr>
            </a:pPr>
            <a:r>
              <a:t>05 • SOFTWARE &amp; HARDWARE REQUIREMENTS</a:t>
            </a:r>
          </a:p>
        </p:txBody>
      </p:sp>
      <p:sp>
        <p:nvSpPr>
          <p:cNvPr id="4" name="TextBox 3"/>
          <p:cNvSpPr txBox="1"/>
          <p:nvPr/>
        </p:nvSpPr>
        <p:spPr>
          <a:xfrm>
            <a:off x="731520" y="640080"/>
            <a:ext cx="10728655" cy="457200"/>
          </a:xfrm>
          <a:prstGeom prst="rect">
            <a:avLst/>
          </a:prstGeom>
          <a:noFill/>
        </p:spPr>
        <p:txBody>
          <a:bodyPr wrap="square" lIns="0" rIns="0" tIns="0" bIns="0">
            <a:spAutoFit/>
          </a:bodyPr>
          <a:lstStyle/>
          <a:p>
            <a:pPr>
              <a:defRPr sz="1900" b="1">
                <a:solidFill>
                  <a:srgbClr val="FFFFFF"/>
                </a:solidFill>
                <a:latin typeface="Arial"/>
              </a:defRPr>
            </a:pPr>
            <a:r>
              <a:t>Technical Environment &amp; Specification Stack</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050">
                <a:solidFill>
                  <a:srgbClr val="94A3B8"/>
                </a:solidFill>
                <a:latin typeface="Arial"/>
              </a:defRPr>
            </a:pPr>
            <a:r>
              <a:t>Production-Ready Architecture Built Exclusively on Free, Open-Source Tools</a:t>
            </a:r>
          </a:p>
        </p:txBody>
      </p:sp>
      <p:sp>
        <p:nvSpPr>
          <p:cNvPr id="6" name="Rectangle 5"/>
          <p:cNvSpPr/>
          <p:nvPr/>
        </p:nvSpPr>
        <p:spPr>
          <a:xfrm>
            <a:off x="731520" y="1389888"/>
            <a:ext cx="10728655" cy="18288"/>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731520" y="1645920"/>
          <a:ext cx="5943600" cy="4663440"/>
        </p:xfrm>
        <a:graphic>
          <a:graphicData uri="http://schemas.openxmlformats.org/drawingml/2006/table">
            <a:tbl>
              <a:tblPr firstRow="1" bandRow="1">
                <a:tableStyleId>{5C22544A-7EE6-4342-B048-85BDC9FD1C3A}</a:tableStyleId>
              </a:tblPr>
              <a:tblGrid>
                <a:gridCol w="1645920"/>
                <a:gridCol w="1005840"/>
                <a:gridCol w="3291840"/>
              </a:tblGrid>
              <a:tr h="466344">
                <a:tc>
                  <a:txBody>
                    <a:bodyPr/>
                    <a:lstStyle/>
                    <a:p>
                      <a:pPr algn="ctr">
                        <a:defRPr sz="900" b="1">
                          <a:solidFill>
                            <a:srgbClr val="00F2FE"/>
                          </a:solidFill>
                          <a:latin typeface="Arial"/>
                        </a:defRPr>
                      </a:pPr>
                      <a:r>
                        <a:t>Software Component</a:t>
                      </a:r>
                    </a:p>
                  </a:txBody>
                  <a:tcPr anchor="ctr">
                    <a:solidFill>
                      <a:srgbClr val="111C33"/>
                    </a:solidFill>
                  </a:tcPr>
                </a:tc>
                <a:tc>
                  <a:txBody>
                    <a:bodyPr/>
                    <a:lstStyle/>
                    <a:p>
                      <a:pPr algn="ctr">
                        <a:defRPr sz="900" b="1">
                          <a:solidFill>
                            <a:srgbClr val="00F2FE"/>
                          </a:solidFill>
                          <a:latin typeface="Arial"/>
                        </a:defRPr>
                      </a:pPr>
                      <a:r>
                        <a:t>Version</a:t>
                      </a:r>
                    </a:p>
                  </a:txBody>
                  <a:tcPr anchor="ctr">
                    <a:solidFill>
                      <a:srgbClr val="111C33"/>
                    </a:solidFill>
                  </a:tcPr>
                </a:tc>
                <a:tc>
                  <a:txBody>
                    <a:bodyPr/>
                    <a:lstStyle/>
                    <a:p>
                      <a:pPr algn="ctr">
                        <a:defRPr sz="900" b="1">
                          <a:solidFill>
                            <a:srgbClr val="00F2FE"/>
                          </a:solidFill>
                          <a:latin typeface="Arial"/>
                        </a:defRPr>
                      </a:pPr>
                      <a:r>
                        <a:t>Role in Architecture</a:t>
                      </a:r>
                    </a:p>
                  </a:txBody>
                  <a:tcPr anchor="ctr">
                    <a:solidFill>
                      <a:srgbClr val="111C33"/>
                    </a:solidFill>
                  </a:tcPr>
                </a:tc>
              </a:tr>
              <a:tr h="466344">
                <a:tc>
                  <a:txBody>
                    <a:bodyPr/>
                    <a:lstStyle/>
                    <a:p>
                      <a:pPr algn="l">
                        <a:defRPr sz="850">
                          <a:solidFill>
                            <a:srgbClr val="FFFFFF"/>
                          </a:solidFill>
                          <a:latin typeface="Arial"/>
                        </a:defRPr>
                      </a:pPr>
                      <a:r>
                        <a:t>Python Runtime</a:t>
                      </a:r>
                    </a:p>
                  </a:txBody>
                  <a:tcPr anchor="ctr">
                    <a:solidFill>
                      <a:srgbClr val="0D1526"/>
                    </a:solidFill>
                  </a:tcPr>
                </a:tc>
                <a:tc>
                  <a:txBody>
                    <a:bodyPr/>
                    <a:lstStyle/>
                    <a:p>
                      <a:pPr algn="ctr">
                        <a:defRPr sz="850">
                          <a:solidFill>
                            <a:srgbClr val="E2E8F0"/>
                          </a:solidFill>
                          <a:latin typeface="Arial"/>
                        </a:defRPr>
                      </a:pPr>
                      <a:r>
                        <a:t>3.12.15</a:t>
                      </a:r>
                    </a:p>
                  </a:txBody>
                  <a:tcPr anchor="ctr">
                    <a:solidFill>
                      <a:srgbClr val="0D1526"/>
                    </a:solidFill>
                  </a:tcPr>
                </a:tc>
                <a:tc>
                  <a:txBody>
                    <a:bodyPr/>
                    <a:lstStyle/>
                    <a:p>
                      <a:pPr algn="ctr">
                        <a:defRPr sz="850">
                          <a:solidFill>
                            <a:srgbClr val="E2E8F0"/>
                          </a:solidFill>
                          <a:latin typeface="Arial"/>
                        </a:defRPr>
                      </a:pPr>
                      <a:r>
                        <a:t>Core execution environment &amp; typing</a:t>
                      </a:r>
                    </a:p>
                  </a:txBody>
                  <a:tcPr anchor="ctr">
                    <a:solidFill>
                      <a:srgbClr val="0D1526"/>
                    </a:solidFill>
                  </a:tcPr>
                </a:tc>
              </a:tr>
              <a:tr h="466344">
                <a:tc>
                  <a:txBody>
                    <a:bodyPr/>
                    <a:lstStyle/>
                    <a:p>
                      <a:pPr algn="l">
                        <a:defRPr sz="850">
                          <a:solidFill>
                            <a:srgbClr val="FFFFFF"/>
                          </a:solidFill>
                          <a:latin typeface="Arial"/>
                        </a:defRPr>
                      </a:pPr>
                      <a:r>
                        <a:t>scikit-learn</a:t>
                      </a:r>
                    </a:p>
                  </a:txBody>
                  <a:tcPr anchor="ctr">
                    <a:solidFill>
                      <a:srgbClr val="0A111F"/>
                    </a:solidFill>
                  </a:tcPr>
                </a:tc>
                <a:tc>
                  <a:txBody>
                    <a:bodyPr/>
                    <a:lstStyle/>
                    <a:p>
                      <a:pPr algn="ctr">
                        <a:defRPr sz="850">
                          <a:solidFill>
                            <a:srgbClr val="E2E8F0"/>
                          </a:solidFill>
                          <a:latin typeface="Arial"/>
                        </a:defRPr>
                      </a:pPr>
                      <a:r>
                        <a:t>1.6.1+</a:t>
                      </a:r>
                    </a:p>
                  </a:txBody>
                  <a:tcPr anchor="ctr">
                    <a:solidFill>
                      <a:srgbClr val="0A111F"/>
                    </a:solidFill>
                  </a:tcPr>
                </a:tc>
                <a:tc>
                  <a:txBody>
                    <a:bodyPr/>
                    <a:lstStyle/>
                    <a:p>
                      <a:pPr algn="ctr">
                        <a:defRPr sz="850">
                          <a:solidFill>
                            <a:srgbClr val="E2E8F0"/>
                          </a:solidFill>
                          <a:latin typeface="Arial"/>
                        </a:defRPr>
                      </a:pPr>
                      <a:r>
                        <a:t>Classification, TF-IDF &amp; Platt scaling</a:t>
                      </a:r>
                    </a:p>
                  </a:txBody>
                  <a:tcPr anchor="ctr">
                    <a:solidFill>
                      <a:srgbClr val="0A111F"/>
                    </a:solidFill>
                  </a:tcPr>
                </a:tc>
              </a:tr>
              <a:tr h="466344">
                <a:tc>
                  <a:txBody>
                    <a:bodyPr/>
                    <a:lstStyle/>
                    <a:p>
                      <a:pPr algn="l">
                        <a:defRPr sz="850">
                          <a:solidFill>
                            <a:srgbClr val="FFFFFF"/>
                          </a:solidFill>
                          <a:latin typeface="Arial"/>
                        </a:defRPr>
                      </a:pPr>
                      <a:r>
                        <a:t>LIME</a:t>
                      </a:r>
                    </a:p>
                  </a:txBody>
                  <a:tcPr anchor="ctr">
                    <a:solidFill>
                      <a:srgbClr val="0D1526"/>
                    </a:solidFill>
                  </a:tcPr>
                </a:tc>
                <a:tc>
                  <a:txBody>
                    <a:bodyPr/>
                    <a:lstStyle/>
                    <a:p>
                      <a:pPr algn="ctr">
                        <a:defRPr sz="850">
                          <a:solidFill>
                            <a:srgbClr val="E2E8F0"/>
                          </a:solidFill>
                          <a:latin typeface="Arial"/>
                        </a:defRPr>
                      </a:pPr>
                      <a:r>
                        <a:t>0.2.0.1</a:t>
                      </a:r>
                    </a:p>
                  </a:txBody>
                  <a:tcPr anchor="ctr">
                    <a:solidFill>
                      <a:srgbClr val="0D1526"/>
                    </a:solidFill>
                  </a:tcPr>
                </a:tc>
                <a:tc>
                  <a:txBody>
                    <a:bodyPr/>
                    <a:lstStyle/>
                    <a:p>
                      <a:pPr algn="ctr">
                        <a:defRPr sz="850">
                          <a:solidFill>
                            <a:srgbClr val="E2E8F0"/>
                          </a:solidFill>
                          <a:latin typeface="Arial"/>
                        </a:defRPr>
                      </a:pPr>
                      <a:r>
                        <a:t>Local linear surrogate perturbations</a:t>
                      </a:r>
                    </a:p>
                  </a:txBody>
                  <a:tcPr anchor="ctr">
                    <a:solidFill>
                      <a:srgbClr val="0D1526"/>
                    </a:solidFill>
                  </a:tcPr>
                </a:tc>
              </a:tr>
              <a:tr h="466344">
                <a:tc>
                  <a:txBody>
                    <a:bodyPr/>
                    <a:lstStyle/>
                    <a:p>
                      <a:pPr algn="l">
                        <a:defRPr sz="850">
                          <a:solidFill>
                            <a:srgbClr val="FFFFFF"/>
                          </a:solidFill>
                          <a:latin typeface="Arial"/>
                        </a:defRPr>
                      </a:pPr>
                      <a:r>
                        <a:t>SHAP</a:t>
                      </a:r>
                    </a:p>
                  </a:txBody>
                  <a:tcPr anchor="ctr">
                    <a:solidFill>
                      <a:srgbClr val="0A111F"/>
                    </a:solidFill>
                  </a:tcPr>
                </a:tc>
                <a:tc>
                  <a:txBody>
                    <a:bodyPr/>
                    <a:lstStyle/>
                    <a:p>
                      <a:pPr algn="ctr">
                        <a:defRPr sz="850">
                          <a:solidFill>
                            <a:srgbClr val="E2E8F0"/>
                          </a:solidFill>
                          <a:latin typeface="Arial"/>
                        </a:defRPr>
                      </a:pPr>
                      <a:r>
                        <a:t>0.46.0+</a:t>
                      </a:r>
                    </a:p>
                  </a:txBody>
                  <a:tcPr anchor="ctr">
                    <a:solidFill>
                      <a:srgbClr val="0A111F"/>
                    </a:solidFill>
                  </a:tcPr>
                </a:tc>
                <a:tc>
                  <a:txBody>
                    <a:bodyPr/>
                    <a:lstStyle/>
                    <a:p>
                      <a:pPr algn="ctr">
                        <a:defRPr sz="850">
                          <a:solidFill>
                            <a:srgbClr val="E2E8F0"/>
                          </a:solidFill>
                          <a:latin typeface="Arial"/>
                        </a:defRPr>
                      </a:pPr>
                      <a:r>
                        <a:t>Closed-form linear Shapley attributions</a:t>
                      </a:r>
                    </a:p>
                  </a:txBody>
                  <a:tcPr anchor="ctr">
                    <a:solidFill>
                      <a:srgbClr val="0A111F"/>
                    </a:solidFill>
                  </a:tcPr>
                </a:tc>
              </a:tr>
              <a:tr h="466344">
                <a:tc>
                  <a:txBody>
                    <a:bodyPr/>
                    <a:lstStyle/>
                    <a:p>
                      <a:pPr algn="l">
                        <a:defRPr sz="850">
                          <a:solidFill>
                            <a:srgbClr val="FFFFFF"/>
                          </a:solidFill>
                          <a:latin typeface="Arial"/>
                        </a:defRPr>
                      </a:pPr>
                      <a:r>
                        <a:t>PyTorch / Transformers</a:t>
                      </a:r>
                    </a:p>
                  </a:txBody>
                  <a:tcPr anchor="ctr">
                    <a:solidFill>
                      <a:srgbClr val="0D1526"/>
                    </a:solidFill>
                  </a:tcPr>
                </a:tc>
                <a:tc>
                  <a:txBody>
                    <a:bodyPr/>
                    <a:lstStyle/>
                    <a:p>
                      <a:pPr algn="ctr">
                        <a:defRPr sz="850">
                          <a:solidFill>
                            <a:srgbClr val="E2E8F0"/>
                          </a:solidFill>
                          <a:latin typeface="Arial"/>
                        </a:defRPr>
                      </a:pPr>
                      <a:r>
                        <a:t>2.5.1+ / 4.48+</a:t>
                      </a:r>
                    </a:p>
                  </a:txBody>
                  <a:tcPr anchor="ctr">
                    <a:solidFill>
                      <a:srgbClr val="0D1526"/>
                    </a:solidFill>
                  </a:tcPr>
                </a:tc>
                <a:tc>
                  <a:txBody>
                    <a:bodyPr/>
                    <a:lstStyle/>
                    <a:p>
                      <a:pPr algn="ctr">
                        <a:defRPr sz="850">
                          <a:solidFill>
                            <a:srgbClr val="E2E8F0"/>
                          </a:solidFill>
                          <a:latin typeface="Arial"/>
                        </a:defRPr>
                      </a:pPr>
                      <a:r>
                        <a:t>DeBERTa-v3 cross-encoder NLI model</a:t>
                      </a:r>
                    </a:p>
                  </a:txBody>
                  <a:tcPr anchor="ctr">
                    <a:solidFill>
                      <a:srgbClr val="0D1526"/>
                    </a:solidFill>
                  </a:tcPr>
                </a:tc>
              </a:tr>
              <a:tr h="466344">
                <a:tc>
                  <a:txBody>
                    <a:bodyPr/>
                    <a:lstStyle/>
                    <a:p>
                      <a:pPr algn="l">
                        <a:defRPr sz="850">
                          <a:solidFill>
                            <a:srgbClr val="FFFFFF"/>
                          </a:solidFill>
                          <a:latin typeface="Arial"/>
                        </a:defRPr>
                      </a:pPr>
                      <a:r>
                        <a:t>Tesseract OCR</a:t>
                      </a:r>
                    </a:p>
                  </a:txBody>
                  <a:tcPr anchor="ctr">
                    <a:solidFill>
                      <a:srgbClr val="0A111F"/>
                    </a:solidFill>
                  </a:tcPr>
                </a:tc>
                <a:tc>
                  <a:txBody>
                    <a:bodyPr/>
                    <a:lstStyle/>
                    <a:p>
                      <a:pPr algn="ctr">
                        <a:defRPr sz="850">
                          <a:solidFill>
                            <a:srgbClr val="E2E8F0"/>
                          </a:solidFill>
                          <a:latin typeface="Arial"/>
                        </a:defRPr>
                      </a:pPr>
                      <a:r>
                        <a:t>5.5.0+</a:t>
                      </a:r>
                    </a:p>
                  </a:txBody>
                  <a:tcPr anchor="ctr">
                    <a:solidFill>
                      <a:srgbClr val="0A111F"/>
                    </a:solidFill>
                  </a:tcPr>
                </a:tc>
                <a:tc>
                  <a:txBody>
                    <a:bodyPr/>
                    <a:lstStyle/>
                    <a:p>
                      <a:pPr algn="ctr">
                        <a:defRPr sz="850">
                          <a:solidFill>
                            <a:srgbClr val="E2E8F0"/>
                          </a:solidFill>
                          <a:latin typeface="Arial"/>
                        </a:defRPr>
                      </a:pPr>
                      <a:r>
                        <a:t>Multimodal news screenshot text extraction</a:t>
                      </a:r>
                    </a:p>
                  </a:txBody>
                  <a:tcPr anchor="ctr">
                    <a:solidFill>
                      <a:srgbClr val="0A111F"/>
                    </a:solidFill>
                  </a:tcPr>
                </a:tc>
              </a:tr>
              <a:tr h="466344">
                <a:tc>
                  <a:txBody>
                    <a:bodyPr/>
                    <a:lstStyle/>
                    <a:p>
                      <a:pPr algn="l">
                        <a:defRPr sz="850">
                          <a:solidFill>
                            <a:srgbClr val="FFFFFF"/>
                          </a:solidFill>
                          <a:latin typeface="Arial"/>
                        </a:defRPr>
                      </a:pPr>
                      <a:r>
                        <a:t>Streamlit</a:t>
                      </a:r>
                    </a:p>
                  </a:txBody>
                  <a:tcPr anchor="ctr">
                    <a:solidFill>
                      <a:srgbClr val="0D1526"/>
                    </a:solidFill>
                  </a:tcPr>
                </a:tc>
                <a:tc>
                  <a:txBody>
                    <a:bodyPr/>
                    <a:lstStyle/>
                    <a:p>
                      <a:pPr algn="ctr">
                        <a:defRPr sz="850">
                          <a:solidFill>
                            <a:srgbClr val="E2E8F0"/>
                          </a:solidFill>
                          <a:latin typeface="Arial"/>
                        </a:defRPr>
                      </a:pPr>
                      <a:r>
                        <a:t>1.40.0+</a:t>
                      </a:r>
                    </a:p>
                  </a:txBody>
                  <a:tcPr anchor="ctr">
                    <a:solidFill>
                      <a:srgbClr val="0D1526"/>
                    </a:solidFill>
                  </a:tcPr>
                </a:tc>
                <a:tc>
                  <a:txBody>
                    <a:bodyPr/>
                    <a:lstStyle/>
                    <a:p>
                      <a:pPr algn="ctr">
                        <a:defRPr sz="850">
                          <a:solidFill>
                            <a:srgbClr val="E2E8F0"/>
                          </a:solidFill>
                          <a:latin typeface="Arial"/>
                        </a:defRPr>
                      </a:pPr>
                      <a:r>
                        <a:t>Reactive 6-view web user interface</a:t>
                      </a:r>
                    </a:p>
                  </a:txBody>
                  <a:tcPr anchor="ctr">
                    <a:solidFill>
                      <a:srgbClr val="0D1526"/>
                    </a:solidFill>
                  </a:tcPr>
                </a:tc>
              </a:tr>
              <a:tr h="466344">
                <a:tc>
                  <a:txBody>
                    <a:bodyPr/>
                    <a:lstStyle/>
                    <a:p>
                      <a:pPr algn="l">
                        <a:defRPr sz="850">
                          <a:solidFill>
                            <a:srgbClr val="FFFFFF"/>
                          </a:solidFill>
                          <a:latin typeface="Arial"/>
                        </a:defRPr>
                      </a:pPr>
                      <a:r>
                        <a:t>SQLite 3</a:t>
                      </a:r>
                    </a:p>
                  </a:txBody>
                  <a:tcPr anchor="ctr">
                    <a:solidFill>
                      <a:srgbClr val="0A111F"/>
                    </a:solidFill>
                  </a:tcPr>
                </a:tc>
                <a:tc>
                  <a:txBody>
                    <a:bodyPr/>
                    <a:lstStyle/>
                    <a:p>
                      <a:pPr algn="ctr">
                        <a:defRPr sz="850">
                          <a:solidFill>
                            <a:srgbClr val="E2E8F0"/>
                          </a:solidFill>
                          <a:latin typeface="Arial"/>
                        </a:defRPr>
                      </a:pPr>
                      <a:r>
                        <a:t>3.45+</a:t>
                      </a:r>
                    </a:p>
                  </a:txBody>
                  <a:tcPr anchor="ctr">
                    <a:solidFill>
                      <a:srgbClr val="0A111F"/>
                    </a:solidFill>
                  </a:tcPr>
                </a:tc>
                <a:tc>
                  <a:txBody>
                    <a:bodyPr/>
                    <a:lstStyle/>
                    <a:p>
                      <a:pPr algn="ctr">
                        <a:defRPr sz="850">
                          <a:solidFill>
                            <a:srgbClr val="E2E8F0"/>
                          </a:solidFill>
                          <a:latin typeface="Arial"/>
                        </a:defRPr>
                      </a:pPr>
                      <a:r>
                        <a:t>Audit persistence &amp; 90-day retention log</a:t>
                      </a:r>
                    </a:p>
                  </a:txBody>
                  <a:tcPr anchor="ctr">
                    <a:solidFill>
                      <a:srgbClr val="0A111F"/>
                    </a:solidFill>
                  </a:tcPr>
                </a:tc>
              </a:tr>
              <a:tr h="466344">
                <a:tc>
                  <a:txBody>
                    <a:bodyPr/>
                    <a:lstStyle/>
                    <a:p>
                      <a:pPr algn="l">
                        <a:defRPr sz="850">
                          <a:solidFill>
                            <a:srgbClr val="FFFFFF"/>
                          </a:solidFill>
                          <a:latin typeface="Arial"/>
                        </a:defRPr>
                      </a:pPr>
                      <a:r>
                        <a:t>Pytest Test Harness</a:t>
                      </a:r>
                    </a:p>
                  </a:txBody>
                  <a:tcPr anchor="ctr">
                    <a:solidFill>
                      <a:srgbClr val="0D1526"/>
                    </a:solidFill>
                  </a:tcPr>
                </a:tc>
                <a:tc>
                  <a:txBody>
                    <a:bodyPr/>
                    <a:lstStyle/>
                    <a:p>
                      <a:pPr algn="ctr">
                        <a:defRPr sz="850">
                          <a:solidFill>
                            <a:srgbClr val="E2E8F0"/>
                          </a:solidFill>
                          <a:latin typeface="Arial"/>
                        </a:defRPr>
                      </a:pPr>
                      <a:r>
                        <a:t>9.1.1+</a:t>
                      </a:r>
                    </a:p>
                  </a:txBody>
                  <a:tcPr anchor="ctr">
                    <a:solidFill>
                      <a:srgbClr val="0D1526"/>
                    </a:solidFill>
                  </a:tcPr>
                </a:tc>
                <a:tc>
                  <a:txBody>
                    <a:bodyPr/>
                    <a:lstStyle/>
                    <a:p>
                      <a:pPr algn="ctr">
                        <a:defRPr sz="850">
                          <a:solidFill>
                            <a:srgbClr val="E2E8F0"/>
                          </a:solidFill>
                          <a:latin typeface="Arial"/>
                        </a:defRPr>
                      </a:pPr>
                      <a:r>
                        <a:t>Automated testing (60 unit/integration tests)</a:t>
                      </a:r>
                    </a:p>
                  </a:txBody>
                  <a:tcPr anchor="ctr">
                    <a:solidFill>
                      <a:srgbClr val="0D1526"/>
                    </a:solidFill>
                  </a:tcPr>
                </a:tc>
              </a:tr>
            </a:tbl>
          </a:graphicData>
        </a:graphic>
      </p:graphicFrame>
      <p:sp>
        <p:nvSpPr>
          <p:cNvPr id="8" name="Rounded Rectangle 7"/>
          <p:cNvSpPr/>
          <p:nvPr/>
        </p:nvSpPr>
        <p:spPr>
          <a:xfrm>
            <a:off x="6949440" y="1645920"/>
            <a:ext cx="4510735" cy="4663440"/>
          </a:xfrm>
          <a:prstGeom prst="roundRect">
            <a:avLst/>
          </a:prstGeom>
          <a:solidFill>
            <a:srgbClr val="0D15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78040" y="1828800"/>
            <a:ext cx="4053535" cy="4297680"/>
          </a:xfrm>
          <a:prstGeom prst="rect">
            <a:avLst/>
          </a:prstGeom>
          <a:noFill/>
        </p:spPr>
        <p:txBody>
          <a:bodyPr wrap="square" lIns="0" rIns="0" tIns="0" bIns="0">
            <a:spAutoFit/>
          </a:bodyPr>
          <a:lstStyle/>
          <a:p>
            <a:pPr>
              <a:defRPr sz="1050" b="1">
                <a:solidFill>
                  <a:srgbClr val="00F2FE"/>
                </a:solidFill>
                <a:latin typeface="Arial"/>
              </a:defRPr>
            </a:pPr>
            <a:r>
              <a:t>HARDWARE SPECIFICATIONS</a:t>
            </a:r>
          </a:p>
          <a:p>
            <a:br/>
            <a:pPr>
              <a:defRPr sz="950" b="1">
                <a:solidFill>
                  <a:srgbClr val="FFFFFF"/>
                </a:solidFill>
                <a:latin typeface="Arial"/>
              </a:defRPr>
            </a:pPr>
            <a:r>
              <a:t>Verified Development Machine:</a:t>
            </a:r>
          </a:p>
          <a:p>
            <a:pPr>
              <a:defRPr sz="850">
                <a:solidFill>
                  <a:srgbClr val="E2E8F0"/>
                </a:solidFill>
                <a:latin typeface="Arial"/>
              </a:defRPr>
            </a:pPr>
            <a:r>
              <a:t>• Apple Silicon M-Series SoC (ARM64 unified architecture)</a:t>
            </a:r>
          </a:p>
          <a:p>
            <a:pPr>
              <a:defRPr sz="850">
                <a:solidFill>
                  <a:srgbClr val="E2E8F0"/>
                </a:solidFill>
                <a:latin typeface="Arial"/>
              </a:defRPr>
            </a:pPr>
            <a:r>
              <a:t>• 16 GB Unified Memory (LPDDR5)</a:t>
            </a:r>
          </a:p>
          <a:p>
            <a:pPr>
              <a:defRPr sz="850">
                <a:solidFill>
                  <a:srgbClr val="E2E8F0"/>
                </a:solidFill>
                <a:latin typeface="Arial"/>
              </a:defRPr>
            </a:pPr>
            <a:r>
              <a:t>• macOS Sonoma / Darwin 24.3.0 Unix subsystem</a:t>
            </a:r>
          </a:p>
          <a:p>
            <a:pPr>
              <a:defRPr sz="850">
                <a:solidFill>
                  <a:srgbClr val="E2E8F0"/>
                </a:solidFill>
                <a:latin typeface="Arial"/>
              </a:defRPr>
            </a:pPr>
            <a:r>
              <a:t>• Apple Metal Performance Shaders (MPS) for PyTorch</a:t>
            </a:r>
          </a:p>
          <a:p>
            <a:br/>
            <a:pPr>
              <a:defRPr sz="950" b="1">
                <a:solidFill>
                  <a:srgbClr val="FFFFFF"/>
                </a:solidFill>
                <a:latin typeface="Arial"/>
              </a:defRPr>
            </a:pPr>
            <a:r>
              <a:t>Target Demo &amp; Viva Minimum Specs:</a:t>
            </a:r>
          </a:p>
          <a:p>
            <a:pPr>
              <a:defRPr sz="850">
                <a:solidFill>
                  <a:srgbClr val="E2E8F0"/>
                </a:solidFill>
                <a:latin typeface="Arial"/>
              </a:defRPr>
            </a:pPr>
            <a:r>
              <a:t>• Standard x86_64 or ARM64 64-bit CPU (Quad-core+)</a:t>
            </a:r>
          </a:p>
          <a:p>
            <a:pPr>
              <a:defRPr sz="850">
                <a:solidFill>
                  <a:srgbClr val="E2E8F0"/>
                </a:solidFill>
                <a:latin typeface="Arial"/>
              </a:defRPr>
            </a:pPr>
            <a:r>
              <a:t>• 8 GB – 16 GB RAM (Zero dedicated GPU requirement)</a:t>
            </a:r>
          </a:p>
          <a:p>
            <a:pPr>
              <a:defRPr sz="850">
                <a:solidFill>
                  <a:srgbClr val="E2E8F0"/>
                </a:solidFill>
                <a:latin typeface="Arial"/>
              </a:defRPr>
            </a:pPr>
            <a:r>
              <a:t>• 2.5 GB Free Disk Space (Includes model cache)</a:t>
            </a:r>
          </a:p>
          <a:p>
            <a:pPr>
              <a:defRPr sz="850">
                <a:solidFill>
                  <a:srgbClr val="E2E8F0"/>
                </a:solidFill>
                <a:latin typeface="Arial"/>
              </a:defRPr>
            </a:pPr>
            <a:r>
              <a:t>• Standard 1080p display for web workspace presentation</a:t>
            </a:r>
          </a:p>
          <a:p>
            <a:br/>
            <a:pPr>
              <a:defRPr sz="950" b="1">
                <a:solidFill>
                  <a:srgbClr val="FFFFFF"/>
                </a:solidFill>
                <a:latin typeface="Arial"/>
              </a:defRPr>
            </a:pPr>
            <a:r>
              <a:t>Economic Self-Sufficiency:</a:t>
            </a:r>
          </a:p>
          <a:p>
            <a:pPr>
              <a:defRPr sz="850">
                <a:solidFill>
                  <a:srgbClr val="E2E8F0"/>
                </a:solidFill>
                <a:latin typeface="Arial"/>
              </a:defRPr>
            </a:pPr>
            <a:r>
              <a:t>• Zero cloud API fees (No OpenAI or cloud subscription costs)</a:t>
            </a:r>
          </a:p>
          <a:p>
            <a:pPr>
              <a:defRPr sz="850">
                <a:solidFill>
                  <a:srgbClr val="E2E8F0"/>
                </a:solidFill>
                <a:latin typeface="Arial"/>
              </a:defRPr>
            </a:pPr>
            <a:r>
              <a:t>• Permissive open-source licenses (MIT, Apache 2.0, BSD-3)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rIns="0" tIns="0" bIns="0">
            <a:spAutoFit/>
          </a:bodyPr>
          <a:lstStyle/>
          <a:p>
            <a:pPr>
              <a:defRPr sz="950" b="1">
                <a:solidFill>
                  <a:srgbClr val="00F2FE"/>
                </a:solidFill>
                <a:latin typeface="Arial"/>
              </a:defRPr>
            </a:pPr>
            <a:r>
              <a:t>06 • IMPLEMENTATION — SYSTEM ARCHITECTURE</a:t>
            </a:r>
          </a:p>
        </p:txBody>
      </p:sp>
      <p:sp>
        <p:nvSpPr>
          <p:cNvPr id="4" name="TextBox 3"/>
          <p:cNvSpPr txBox="1"/>
          <p:nvPr/>
        </p:nvSpPr>
        <p:spPr>
          <a:xfrm>
            <a:off x="731520" y="640080"/>
            <a:ext cx="10728655" cy="457200"/>
          </a:xfrm>
          <a:prstGeom prst="rect">
            <a:avLst/>
          </a:prstGeom>
          <a:noFill/>
        </p:spPr>
        <p:txBody>
          <a:bodyPr wrap="square" lIns="0" rIns="0" tIns="0" bIns="0">
            <a:spAutoFit/>
          </a:bodyPr>
          <a:lstStyle/>
          <a:p>
            <a:pPr>
              <a:defRPr sz="1900" b="1">
                <a:solidFill>
                  <a:srgbClr val="FFFFFF"/>
                </a:solidFill>
                <a:latin typeface="Arial"/>
              </a:defRPr>
            </a:pPr>
            <a:r>
              <a:t>Multi-Tiered Modular System Architecture</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050">
                <a:solidFill>
                  <a:srgbClr val="94A3B8"/>
                </a:solidFill>
                <a:latin typeface="Arial"/>
              </a:defRPr>
            </a:pPr>
            <a:r>
              <a:t>Decoupled Architectural Pipeline from Ingestion to Explainability &amp; Evidence Verification</a:t>
            </a:r>
          </a:p>
        </p:txBody>
      </p:sp>
      <p:sp>
        <p:nvSpPr>
          <p:cNvPr id="6" name="Rectangle 5"/>
          <p:cNvSpPr/>
          <p:nvPr/>
        </p:nvSpPr>
        <p:spPr>
          <a:xfrm>
            <a:off x="731520" y="1389888"/>
            <a:ext cx="10728655" cy="18288"/>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10728655" cy="868680"/>
          </a:xfrm>
          <a:prstGeom prst="roundRect">
            <a:avLst/>
          </a:prstGeom>
          <a:solidFill>
            <a:srgbClr val="0D1526"/>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10362895" cy="685800"/>
          </a:xfrm>
          <a:prstGeom prst="rect">
            <a:avLst/>
          </a:prstGeom>
          <a:noFill/>
        </p:spPr>
        <p:txBody>
          <a:bodyPr wrap="square" lIns="0" rIns="0" tIns="0" bIns="0">
            <a:spAutoFit/>
          </a:bodyPr>
          <a:lstStyle/>
          <a:p>
            <a:pPr>
              <a:defRPr sz="1100" b="1">
                <a:solidFill>
                  <a:srgbClr val="00F2FE"/>
                </a:solidFill>
                <a:latin typeface="Arial"/>
              </a:defRPr>
            </a:pPr>
            <a:r>
              <a:t>TIER 1: MULTIMODAL INGESTION LAYER</a:t>
            </a:r>
          </a:p>
          <a:p>
            <a:pPr>
              <a:defRPr sz="850">
                <a:solidFill>
                  <a:srgbClr val="E2E8F0"/>
                </a:solidFill>
                <a:latin typeface="Arial"/>
              </a:defRPr>
            </a:pPr>
            <a:r>
              <a:t>Streamlit 6-view web UI • Direct editorial text entry • Tesseract 5.5 OCR screenshot parser with Otsu binarization and deskewing.</a:t>
            </a:r>
          </a:p>
        </p:txBody>
      </p:sp>
      <p:sp>
        <p:nvSpPr>
          <p:cNvPr id="9" name="Rounded Rectangle 8"/>
          <p:cNvSpPr/>
          <p:nvPr/>
        </p:nvSpPr>
        <p:spPr>
          <a:xfrm>
            <a:off x="731520" y="2624328"/>
            <a:ext cx="10728655" cy="868680"/>
          </a:xfrm>
          <a:prstGeom prst="roundRect">
            <a:avLst/>
          </a:prstGeom>
          <a:solidFill>
            <a:srgbClr val="0D1526"/>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715768"/>
            <a:ext cx="10362895" cy="685800"/>
          </a:xfrm>
          <a:prstGeom prst="rect">
            <a:avLst/>
          </a:prstGeom>
          <a:noFill/>
        </p:spPr>
        <p:txBody>
          <a:bodyPr wrap="square" lIns="0" rIns="0" tIns="0" bIns="0">
            <a:spAutoFit/>
          </a:bodyPr>
          <a:lstStyle/>
          <a:p>
            <a:pPr>
              <a:defRPr sz="1100" b="1">
                <a:solidFill>
                  <a:srgbClr val="14B8A6"/>
                </a:solidFill>
                <a:latin typeface="Arial"/>
              </a:defRPr>
            </a:pPr>
            <a:r>
              <a:t>TIER 2: SANITIZATION &amp; FEATURE EXTRACTION</a:t>
            </a:r>
          </a:p>
          <a:p>
            <a:pPr>
              <a:defRPr sz="850">
                <a:solidFill>
                  <a:srgbClr val="E2E8F0"/>
                </a:solidFill>
                <a:latin typeface="Arial"/>
              </a:defRPr>
            </a:pPr>
            <a:r>
              <a:t>Regex wire-tag eradication (strips '(Reuters)', '(AP)') • Canonical MD5 body clustering • Sublinear TF-IDF vectorization (5,000 features).</a:t>
            </a:r>
          </a:p>
        </p:txBody>
      </p:sp>
      <p:sp>
        <p:nvSpPr>
          <p:cNvPr id="11" name="Rounded Rectangle 10"/>
          <p:cNvSpPr/>
          <p:nvPr/>
        </p:nvSpPr>
        <p:spPr>
          <a:xfrm>
            <a:off x="731520" y="3602736"/>
            <a:ext cx="10728655" cy="868680"/>
          </a:xfrm>
          <a:prstGeom prst="roundRect">
            <a:avLst/>
          </a:prstGeom>
          <a:solidFill>
            <a:srgbClr val="0D15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694176"/>
            <a:ext cx="10362895" cy="685800"/>
          </a:xfrm>
          <a:prstGeom prst="rect">
            <a:avLst/>
          </a:prstGeom>
          <a:noFill/>
        </p:spPr>
        <p:txBody>
          <a:bodyPr wrap="square" lIns="0" rIns="0" tIns="0" bIns="0">
            <a:spAutoFit/>
          </a:bodyPr>
          <a:lstStyle/>
          <a:p>
            <a:pPr>
              <a:defRPr sz="1100" b="1">
                <a:solidFill>
                  <a:srgbClr val="38BDF8"/>
                </a:solidFill>
                <a:latin typeface="Arial"/>
              </a:defRPr>
            </a:pPr>
            <a:r>
              <a:t>TIER 3: STATISTICAL ML &amp; CALIBRATION</a:t>
            </a:r>
          </a:p>
          <a:p>
            <a:pPr>
              <a:defRPr sz="850">
                <a:solidFill>
                  <a:srgbClr val="E2E8F0"/>
                </a:solidFill>
                <a:latin typeface="Arial"/>
              </a:defRPr>
            </a:pPr>
            <a:r>
              <a:t>Logistic Regression (log-odds) • Multinomial Naive Bayes (Laplace smoothing) • Platt-calibrated Linear SVM (3-fold cross-validated sigmoid scaling).</a:t>
            </a:r>
          </a:p>
        </p:txBody>
      </p:sp>
      <p:sp>
        <p:nvSpPr>
          <p:cNvPr id="13" name="Rounded Rectangle 12"/>
          <p:cNvSpPr/>
          <p:nvPr/>
        </p:nvSpPr>
        <p:spPr>
          <a:xfrm>
            <a:off x="731520" y="4581144"/>
            <a:ext cx="10728655" cy="868680"/>
          </a:xfrm>
          <a:prstGeom prst="roundRect">
            <a:avLst/>
          </a:prstGeom>
          <a:solidFill>
            <a:srgbClr val="0D1526"/>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672584"/>
            <a:ext cx="10362895" cy="685800"/>
          </a:xfrm>
          <a:prstGeom prst="rect">
            <a:avLst/>
          </a:prstGeom>
          <a:noFill/>
        </p:spPr>
        <p:txBody>
          <a:bodyPr wrap="square" lIns="0" rIns="0" tIns="0" bIns="0">
            <a:spAutoFit/>
          </a:bodyPr>
          <a:lstStyle/>
          <a:p>
            <a:pPr>
              <a:defRPr sz="1100" b="1">
                <a:solidFill>
                  <a:srgbClr val="A855F7"/>
                </a:solidFill>
                <a:latin typeface="Arial"/>
              </a:defRPr>
            </a:pPr>
            <a:r>
              <a:t>TIER 4: DUAL EXPLAINABLE AI &amp; NEURAL NLI</a:t>
            </a:r>
          </a:p>
          <a:p>
            <a:pPr>
              <a:defRPr sz="850">
                <a:solidFill>
                  <a:srgbClr val="E2E8F0"/>
                </a:solidFill>
                <a:latin typeface="Arial"/>
              </a:defRPr>
            </a:pPr>
            <a:r>
              <a:t>LIME local surrogate perturbations • SHAP exact closed-form linear Shapley values • DeBERTa-v3 cross-encoder NLI verification.</a:t>
            </a:r>
          </a:p>
        </p:txBody>
      </p:sp>
      <p:sp>
        <p:nvSpPr>
          <p:cNvPr id="15" name="Rounded Rectangle 14"/>
          <p:cNvSpPr/>
          <p:nvPr/>
        </p:nvSpPr>
        <p:spPr>
          <a:xfrm>
            <a:off x="731520" y="5559552"/>
            <a:ext cx="10728655" cy="868680"/>
          </a:xfrm>
          <a:prstGeom prst="roundRect">
            <a:avLst/>
          </a:prstGeom>
          <a:solidFill>
            <a:srgbClr val="0D1526"/>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650992"/>
            <a:ext cx="10362895" cy="685800"/>
          </a:xfrm>
          <a:prstGeom prst="rect">
            <a:avLst/>
          </a:prstGeom>
          <a:noFill/>
        </p:spPr>
        <p:txBody>
          <a:bodyPr wrap="square" lIns="0" rIns="0" tIns="0" bIns="0">
            <a:spAutoFit/>
          </a:bodyPr>
          <a:lstStyle/>
          <a:p>
            <a:pPr>
              <a:defRPr sz="1100" b="1">
                <a:solidFill>
                  <a:srgbClr val="22C55E"/>
                </a:solidFill>
                <a:latin typeface="Arial"/>
              </a:defRPr>
            </a:pPr>
            <a:r>
              <a:t>TIER 5: ACTIVE LEARNING &amp; AUDIT STORE</a:t>
            </a:r>
          </a:p>
          <a:p>
            <a:pPr>
              <a:defRPr sz="850">
                <a:solidFill>
                  <a:srgbClr val="E2E8F0"/>
                </a:solidFill>
                <a:latin typeface="Arial"/>
              </a:defRPr>
            </a:pPr>
            <a:r>
              <a:t>Contextual UCB1 multi-armed bandit (adaptive evidence search) • SQLite embedded database with WAL concurrency and 90-day retention pruning.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rIns="0" tIns="0" bIns="0">
            <a:spAutoFit/>
          </a:bodyPr>
          <a:lstStyle/>
          <a:p>
            <a:pPr>
              <a:defRPr sz="950" b="1">
                <a:solidFill>
                  <a:srgbClr val="00F2FE"/>
                </a:solidFill>
                <a:latin typeface="Arial"/>
              </a:defRPr>
            </a:pPr>
            <a:r>
              <a:t>06 • IMPLEMENTATION — DATASET CURATION</a:t>
            </a:r>
          </a:p>
        </p:txBody>
      </p:sp>
      <p:sp>
        <p:nvSpPr>
          <p:cNvPr id="4" name="TextBox 3"/>
          <p:cNvSpPr txBox="1"/>
          <p:nvPr/>
        </p:nvSpPr>
        <p:spPr>
          <a:xfrm>
            <a:off x="731520" y="640080"/>
            <a:ext cx="10728655" cy="457200"/>
          </a:xfrm>
          <a:prstGeom prst="rect">
            <a:avLst/>
          </a:prstGeom>
          <a:noFill/>
        </p:spPr>
        <p:txBody>
          <a:bodyPr wrap="square" lIns="0" rIns="0" tIns="0" bIns="0">
            <a:spAutoFit/>
          </a:bodyPr>
          <a:lstStyle/>
          <a:p>
            <a:pPr>
              <a:defRPr sz="1900" b="1">
                <a:solidFill>
                  <a:srgbClr val="FFFFFF"/>
                </a:solidFill>
                <a:latin typeface="Arial"/>
              </a:defRPr>
            </a:pPr>
            <a:r>
              <a:t>Dataset Hygiene &amp; Zero-Leakage Group Partitioning</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050">
                <a:solidFill>
                  <a:srgbClr val="94A3B8"/>
                </a:solidFill>
                <a:latin typeface="Arial"/>
              </a:defRPr>
            </a:pPr>
            <a:r>
              <a:t>Sourcing the Public ISOT Corpus and Eradicating Duplicate-Body Cross-Split Leakage</a:t>
            </a:r>
          </a:p>
        </p:txBody>
      </p:sp>
      <p:sp>
        <p:nvSpPr>
          <p:cNvPr id="6" name="Rectangle 5"/>
          <p:cNvSpPr/>
          <p:nvPr/>
        </p:nvSpPr>
        <p:spPr>
          <a:xfrm>
            <a:off x="731520" y="1389888"/>
            <a:ext cx="10728655" cy="18288"/>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731520" y="1645920"/>
          <a:ext cx="6217920" cy="2926080"/>
        </p:xfrm>
        <a:graphic>
          <a:graphicData uri="http://schemas.openxmlformats.org/drawingml/2006/table">
            <a:tbl>
              <a:tblPr firstRow="1" bandRow="1">
                <a:tableStyleId>{5C22544A-7EE6-4342-B048-85BDC9FD1C3A}</a:tableStyleId>
              </a:tblPr>
              <a:tblGrid>
                <a:gridCol w="1371600"/>
                <a:gridCol w="914400"/>
                <a:gridCol w="1188720"/>
                <a:gridCol w="914400"/>
                <a:gridCol w="914400"/>
                <a:gridCol w="914400"/>
              </a:tblGrid>
              <a:tr h="487680">
                <a:tc>
                  <a:txBody>
                    <a:bodyPr/>
                    <a:lstStyle/>
                    <a:p>
                      <a:pPr algn="ctr">
                        <a:defRPr sz="900" b="1">
                          <a:solidFill>
                            <a:srgbClr val="00F2FE"/>
                          </a:solidFill>
                          <a:latin typeface="Arial"/>
                        </a:defRPr>
                      </a:pPr>
                      <a:r>
                        <a:t>Partition</a:t>
                      </a:r>
                    </a:p>
                  </a:txBody>
                  <a:tcPr anchor="ctr">
                    <a:solidFill>
                      <a:srgbClr val="111C33"/>
                    </a:solidFill>
                  </a:tcPr>
                </a:tc>
                <a:tc>
                  <a:txBody>
                    <a:bodyPr/>
                    <a:lstStyle/>
                    <a:p>
                      <a:pPr algn="ctr">
                        <a:defRPr sz="900" b="1">
                          <a:solidFill>
                            <a:srgbClr val="00F2FE"/>
                          </a:solidFill>
                          <a:latin typeface="Arial"/>
                        </a:defRPr>
                      </a:pPr>
                      <a:r>
                        <a:t>Records</a:t>
                      </a:r>
                    </a:p>
                  </a:txBody>
                  <a:tcPr anchor="ctr">
                    <a:solidFill>
                      <a:srgbClr val="111C33"/>
                    </a:solidFill>
                  </a:tcPr>
                </a:tc>
                <a:tc>
                  <a:txBody>
                    <a:bodyPr/>
                    <a:lstStyle/>
                    <a:p>
                      <a:pPr algn="ctr">
                        <a:defRPr sz="900" b="1">
                          <a:solidFill>
                            <a:srgbClr val="00F2FE"/>
                          </a:solidFill>
                          <a:latin typeface="Arial"/>
                        </a:defRPr>
                      </a:pPr>
                      <a:r>
                        <a:t>Unique Groups</a:t>
                      </a:r>
                    </a:p>
                  </a:txBody>
                  <a:tcPr anchor="ctr">
                    <a:solidFill>
                      <a:srgbClr val="111C33"/>
                    </a:solidFill>
                  </a:tcPr>
                </a:tc>
                <a:tc>
                  <a:txBody>
                    <a:bodyPr/>
                    <a:lstStyle/>
                    <a:p>
                      <a:pPr algn="ctr">
                        <a:defRPr sz="900" b="1">
                          <a:solidFill>
                            <a:srgbClr val="00F2FE"/>
                          </a:solidFill>
                          <a:latin typeface="Arial"/>
                        </a:defRPr>
                      </a:pPr>
                      <a:r>
                        <a:t>Likely Fake</a:t>
                      </a:r>
                    </a:p>
                  </a:txBody>
                  <a:tcPr anchor="ctr">
                    <a:solidFill>
                      <a:srgbClr val="111C33"/>
                    </a:solidFill>
                  </a:tcPr>
                </a:tc>
                <a:tc>
                  <a:txBody>
                    <a:bodyPr/>
                    <a:lstStyle/>
                    <a:p>
                      <a:pPr algn="ctr">
                        <a:defRPr sz="900" b="1">
                          <a:solidFill>
                            <a:srgbClr val="00F2FE"/>
                          </a:solidFill>
                          <a:latin typeface="Arial"/>
                        </a:defRPr>
                      </a:pPr>
                      <a:r>
                        <a:t>Likely Real</a:t>
                      </a:r>
                    </a:p>
                  </a:txBody>
                  <a:tcPr anchor="ctr">
                    <a:solidFill>
                      <a:srgbClr val="111C33"/>
                    </a:solidFill>
                  </a:tcPr>
                </a:tc>
                <a:tc>
                  <a:txBody>
                    <a:bodyPr/>
                    <a:lstStyle/>
                    <a:p>
                      <a:pPr algn="ctr">
                        <a:defRPr sz="900" b="1">
                          <a:solidFill>
                            <a:srgbClr val="00F2FE"/>
                          </a:solidFill>
                          <a:latin typeface="Arial"/>
                        </a:defRPr>
                      </a:pPr>
                      <a:r>
                        <a:t>Ratio</a:t>
                      </a:r>
                    </a:p>
                  </a:txBody>
                  <a:tcPr anchor="ctr">
                    <a:solidFill>
                      <a:srgbClr val="111C33"/>
                    </a:solidFill>
                  </a:tcPr>
                </a:tc>
              </a:tr>
              <a:tr h="487680">
                <a:tc>
                  <a:txBody>
                    <a:bodyPr/>
                    <a:lstStyle/>
                    <a:p>
                      <a:pPr algn="l">
                        <a:defRPr sz="850">
                          <a:solidFill>
                            <a:srgbClr val="FFFFFF"/>
                          </a:solidFill>
                          <a:latin typeface="Arial"/>
                        </a:defRPr>
                      </a:pPr>
                      <a:r>
                        <a:t>Training Set</a:t>
                      </a:r>
                    </a:p>
                  </a:txBody>
                  <a:tcPr anchor="ctr">
                    <a:solidFill>
                      <a:srgbClr val="0D1526"/>
                    </a:solidFill>
                  </a:tcPr>
                </a:tc>
                <a:tc>
                  <a:txBody>
                    <a:bodyPr/>
                    <a:lstStyle/>
                    <a:p>
                      <a:pPr algn="ctr">
                        <a:defRPr sz="850">
                          <a:solidFill>
                            <a:srgbClr val="E2E8F0"/>
                          </a:solidFill>
                          <a:latin typeface="Arial"/>
                        </a:defRPr>
                      </a:pPr>
                      <a:r>
                        <a:t>30,869</a:t>
                      </a:r>
                    </a:p>
                  </a:txBody>
                  <a:tcPr anchor="ctr">
                    <a:solidFill>
                      <a:srgbClr val="0D1526"/>
                    </a:solidFill>
                  </a:tcPr>
                </a:tc>
                <a:tc>
                  <a:txBody>
                    <a:bodyPr/>
                    <a:lstStyle/>
                    <a:p>
                      <a:pPr algn="ctr">
                        <a:defRPr sz="850">
                          <a:solidFill>
                            <a:srgbClr val="E2E8F0"/>
                          </a:solidFill>
                          <a:latin typeface="Arial"/>
                        </a:defRPr>
                      </a:pPr>
                      <a:r>
                        <a:t>27,008</a:t>
                      </a:r>
                    </a:p>
                  </a:txBody>
                  <a:tcPr anchor="ctr">
                    <a:solidFill>
                      <a:srgbClr val="0D1526"/>
                    </a:solidFill>
                  </a:tcPr>
                </a:tc>
                <a:tc>
                  <a:txBody>
                    <a:bodyPr/>
                    <a:lstStyle/>
                    <a:p>
                      <a:pPr algn="ctr">
                        <a:defRPr sz="850">
                          <a:solidFill>
                            <a:srgbClr val="E2E8F0"/>
                          </a:solidFill>
                          <a:latin typeface="Arial"/>
                        </a:defRPr>
                      </a:pPr>
                      <a:r>
                        <a:t>15,860</a:t>
                      </a:r>
                    </a:p>
                  </a:txBody>
                  <a:tcPr anchor="ctr">
                    <a:solidFill>
                      <a:srgbClr val="0D1526"/>
                    </a:solidFill>
                  </a:tcPr>
                </a:tc>
                <a:tc>
                  <a:txBody>
                    <a:bodyPr/>
                    <a:lstStyle/>
                    <a:p>
                      <a:pPr algn="ctr">
                        <a:defRPr sz="850">
                          <a:solidFill>
                            <a:srgbClr val="E2E8F0"/>
                          </a:solidFill>
                          <a:latin typeface="Arial"/>
                        </a:defRPr>
                      </a:pPr>
                      <a:r>
                        <a:t>15,009</a:t>
                      </a:r>
                    </a:p>
                  </a:txBody>
                  <a:tcPr anchor="ctr">
                    <a:solidFill>
                      <a:srgbClr val="0D1526"/>
                    </a:solidFill>
                  </a:tcPr>
                </a:tc>
                <a:tc>
                  <a:txBody>
                    <a:bodyPr/>
                    <a:lstStyle/>
                    <a:p>
                      <a:pPr algn="ctr">
                        <a:defRPr sz="850">
                          <a:solidFill>
                            <a:srgbClr val="E2E8F0"/>
                          </a:solidFill>
                          <a:latin typeface="Arial"/>
                        </a:defRPr>
                      </a:pPr>
                      <a:r>
                        <a:t>69.75%</a:t>
                      </a:r>
                    </a:p>
                  </a:txBody>
                  <a:tcPr anchor="ctr">
                    <a:solidFill>
                      <a:srgbClr val="0D1526"/>
                    </a:solidFill>
                  </a:tcPr>
                </a:tc>
              </a:tr>
              <a:tr h="487680">
                <a:tc>
                  <a:txBody>
                    <a:bodyPr/>
                    <a:lstStyle/>
                    <a:p>
                      <a:pPr algn="l">
                        <a:defRPr sz="850">
                          <a:solidFill>
                            <a:srgbClr val="FFFFFF"/>
                          </a:solidFill>
                          <a:latin typeface="Arial"/>
                        </a:defRPr>
                      </a:pPr>
                      <a:r>
                        <a:t>Validation Set</a:t>
                      </a:r>
                    </a:p>
                  </a:txBody>
                  <a:tcPr anchor="ctr">
                    <a:solidFill>
                      <a:srgbClr val="0A111F"/>
                    </a:solidFill>
                  </a:tcPr>
                </a:tc>
                <a:tc>
                  <a:txBody>
                    <a:bodyPr/>
                    <a:lstStyle/>
                    <a:p>
                      <a:pPr algn="ctr">
                        <a:defRPr sz="850">
                          <a:solidFill>
                            <a:srgbClr val="E2E8F0"/>
                          </a:solidFill>
                          <a:latin typeface="Arial"/>
                        </a:defRPr>
                      </a:pPr>
                      <a:r>
                        <a:t>6,629</a:t>
                      </a:r>
                    </a:p>
                  </a:txBody>
                  <a:tcPr anchor="ctr">
                    <a:solidFill>
                      <a:srgbClr val="0A111F"/>
                    </a:solidFill>
                  </a:tcPr>
                </a:tc>
                <a:tc>
                  <a:txBody>
                    <a:bodyPr/>
                    <a:lstStyle/>
                    <a:p>
                      <a:pPr algn="ctr">
                        <a:defRPr sz="850">
                          <a:solidFill>
                            <a:srgbClr val="E2E8F0"/>
                          </a:solidFill>
                          <a:latin typeface="Arial"/>
                        </a:defRPr>
                      </a:pPr>
                      <a:r>
                        <a:t>5,787</a:t>
                      </a:r>
                    </a:p>
                  </a:txBody>
                  <a:tcPr anchor="ctr">
                    <a:solidFill>
                      <a:srgbClr val="0A111F"/>
                    </a:solidFill>
                  </a:tcPr>
                </a:tc>
                <a:tc>
                  <a:txBody>
                    <a:bodyPr/>
                    <a:lstStyle/>
                    <a:p>
                      <a:pPr algn="ctr">
                        <a:defRPr sz="850">
                          <a:solidFill>
                            <a:srgbClr val="E2E8F0"/>
                          </a:solidFill>
                          <a:latin typeface="Arial"/>
                        </a:defRPr>
                      </a:pPr>
                      <a:r>
                        <a:t>3,426</a:t>
                      </a:r>
                    </a:p>
                  </a:txBody>
                  <a:tcPr anchor="ctr">
                    <a:solidFill>
                      <a:srgbClr val="0A111F"/>
                    </a:solidFill>
                  </a:tcPr>
                </a:tc>
                <a:tc>
                  <a:txBody>
                    <a:bodyPr/>
                    <a:lstStyle/>
                    <a:p>
                      <a:pPr algn="ctr">
                        <a:defRPr sz="850">
                          <a:solidFill>
                            <a:srgbClr val="E2E8F0"/>
                          </a:solidFill>
                          <a:latin typeface="Arial"/>
                        </a:defRPr>
                      </a:pPr>
                      <a:r>
                        <a:t>3,203</a:t>
                      </a:r>
                    </a:p>
                  </a:txBody>
                  <a:tcPr anchor="ctr">
                    <a:solidFill>
                      <a:srgbClr val="0A111F"/>
                    </a:solidFill>
                  </a:tcPr>
                </a:tc>
                <a:tc>
                  <a:txBody>
                    <a:bodyPr/>
                    <a:lstStyle/>
                    <a:p>
                      <a:pPr algn="ctr">
                        <a:defRPr sz="850">
                          <a:solidFill>
                            <a:srgbClr val="E2E8F0"/>
                          </a:solidFill>
                          <a:latin typeface="Arial"/>
                        </a:defRPr>
                      </a:pPr>
                      <a:r>
                        <a:t>14.98%</a:t>
                      </a:r>
                    </a:p>
                  </a:txBody>
                  <a:tcPr anchor="ctr">
                    <a:solidFill>
                      <a:srgbClr val="0A111F"/>
                    </a:solidFill>
                  </a:tcPr>
                </a:tc>
              </a:tr>
              <a:tr h="487680">
                <a:tc>
                  <a:txBody>
                    <a:bodyPr/>
                    <a:lstStyle/>
                    <a:p>
                      <a:pPr algn="l">
                        <a:defRPr sz="850">
                          <a:solidFill>
                            <a:srgbClr val="FFFFFF"/>
                          </a:solidFill>
                          <a:latin typeface="Arial"/>
                        </a:defRPr>
                      </a:pPr>
                      <a:r>
                        <a:t>Held-Out Test Set</a:t>
                      </a:r>
                    </a:p>
                  </a:txBody>
                  <a:tcPr anchor="ctr">
                    <a:solidFill>
                      <a:srgbClr val="0D1526"/>
                    </a:solidFill>
                  </a:tcPr>
                </a:tc>
                <a:tc>
                  <a:txBody>
                    <a:bodyPr/>
                    <a:lstStyle/>
                    <a:p>
                      <a:pPr algn="ctr">
                        <a:defRPr sz="850">
                          <a:solidFill>
                            <a:srgbClr val="E2E8F0"/>
                          </a:solidFill>
                          <a:latin typeface="Arial"/>
                        </a:defRPr>
                      </a:pPr>
                      <a:r>
                        <a:t>6,685</a:t>
                      </a:r>
                    </a:p>
                  </a:txBody>
                  <a:tcPr anchor="ctr">
                    <a:solidFill>
                      <a:srgbClr val="0D1526"/>
                    </a:solidFill>
                  </a:tcPr>
                </a:tc>
                <a:tc>
                  <a:txBody>
                    <a:bodyPr/>
                    <a:lstStyle/>
                    <a:p>
                      <a:pPr algn="ctr">
                        <a:defRPr sz="850">
                          <a:solidFill>
                            <a:srgbClr val="E2E8F0"/>
                          </a:solidFill>
                          <a:latin typeface="Arial"/>
                        </a:defRPr>
                      </a:pPr>
                      <a:r>
                        <a:t>5,788</a:t>
                      </a:r>
                    </a:p>
                  </a:txBody>
                  <a:tcPr anchor="ctr">
                    <a:solidFill>
                      <a:srgbClr val="0D1526"/>
                    </a:solidFill>
                  </a:tcPr>
                </a:tc>
                <a:tc>
                  <a:txBody>
                    <a:bodyPr/>
                    <a:lstStyle/>
                    <a:p>
                      <a:pPr algn="ctr">
                        <a:defRPr sz="850">
                          <a:solidFill>
                            <a:srgbClr val="E2E8F0"/>
                          </a:solidFill>
                          <a:latin typeface="Arial"/>
                        </a:defRPr>
                      </a:pPr>
                      <a:r>
                        <a:t>3,481</a:t>
                      </a:r>
                    </a:p>
                  </a:txBody>
                  <a:tcPr anchor="ctr">
                    <a:solidFill>
                      <a:srgbClr val="0D1526"/>
                    </a:solidFill>
                  </a:tcPr>
                </a:tc>
                <a:tc>
                  <a:txBody>
                    <a:bodyPr/>
                    <a:lstStyle/>
                    <a:p>
                      <a:pPr algn="ctr">
                        <a:defRPr sz="850">
                          <a:solidFill>
                            <a:srgbClr val="E2E8F0"/>
                          </a:solidFill>
                          <a:latin typeface="Arial"/>
                        </a:defRPr>
                      </a:pPr>
                      <a:r>
                        <a:t>3,204</a:t>
                      </a:r>
                    </a:p>
                  </a:txBody>
                  <a:tcPr anchor="ctr">
                    <a:solidFill>
                      <a:srgbClr val="0D1526"/>
                    </a:solidFill>
                  </a:tcPr>
                </a:tc>
                <a:tc>
                  <a:txBody>
                    <a:bodyPr/>
                    <a:lstStyle/>
                    <a:p>
                      <a:pPr algn="ctr">
                        <a:defRPr sz="850">
                          <a:solidFill>
                            <a:srgbClr val="E2E8F0"/>
                          </a:solidFill>
                          <a:latin typeface="Arial"/>
                        </a:defRPr>
                      </a:pPr>
                      <a:r>
                        <a:t>15.10%</a:t>
                      </a:r>
                    </a:p>
                  </a:txBody>
                  <a:tcPr anchor="ctr">
                    <a:solidFill>
                      <a:srgbClr val="0D1526"/>
                    </a:solidFill>
                  </a:tcPr>
                </a:tc>
              </a:tr>
              <a:tr h="487680">
                <a:tc>
                  <a:txBody>
                    <a:bodyPr/>
                    <a:lstStyle/>
                    <a:p>
                      <a:pPr algn="l">
                        <a:defRPr sz="850">
                          <a:solidFill>
                            <a:srgbClr val="FFFFFF"/>
                          </a:solidFill>
                          <a:latin typeface="Arial"/>
                        </a:defRPr>
                      </a:pPr>
                      <a:r>
                        <a:t>Co-Assigned Duplicates</a:t>
                      </a:r>
                    </a:p>
                  </a:txBody>
                  <a:tcPr anchor="ctr">
                    <a:solidFill>
                      <a:srgbClr val="0A111F"/>
                    </a:solidFill>
                  </a:tcPr>
                </a:tc>
                <a:tc>
                  <a:txBody>
                    <a:bodyPr/>
                    <a:lstStyle/>
                    <a:p>
                      <a:pPr algn="ctr">
                        <a:defRPr sz="850">
                          <a:solidFill>
                            <a:srgbClr val="E2E8F0"/>
                          </a:solidFill>
                          <a:latin typeface="Arial"/>
                        </a:defRPr>
                      </a:pPr>
                      <a:r>
                        <a:t>5,600</a:t>
                      </a:r>
                    </a:p>
                  </a:txBody>
                  <a:tcPr anchor="ctr">
                    <a:solidFill>
                      <a:srgbClr val="0A111F"/>
                    </a:solidFill>
                  </a:tcPr>
                </a:tc>
                <a:tc>
                  <a:txBody>
                    <a:bodyPr/>
                    <a:lstStyle/>
                    <a:p>
                      <a:pPr algn="ctr">
                        <a:defRPr sz="850">
                          <a:solidFill>
                            <a:srgbClr val="E2E8F0"/>
                          </a:solidFill>
                          <a:latin typeface="Arial"/>
                        </a:defRPr>
                      </a:pPr>
                      <a:r>
                        <a:t>0 (Quarantined)</a:t>
                      </a:r>
                    </a:p>
                  </a:txBody>
                  <a:tcPr anchor="ctr">
                    <a:solidFill>
                      <a:srgbClr val="0A111F"/>
                    </a:solidFill>
                  </a:tcPr>
                </a:tc>
                <a:tc>
                  <a:txBody>
                    <a:bodyPr/>
                    <a:lstStyle/>
                    <a:p>
                      <a:pPr algn="ctr">
                        <a:defRPr sz="850">
                          <a:solidFill>
                            <a:srgbClr val="E2E8F0"/>
                          </a:solidFill>
                          <a:latin typeface="Arial"/>
                        </a:defRPr>
                      </a:pPr>
                      <a:r>
                        <a:t>2,842</a:t>
                      </a:r>
                    </a:p>
                  </a:txBody>
                  <a:tcPr anchor="ctr">
                    <a:solidFill>
                      <a:srgbClr val="0A111F"/>
                    </a:solidFill>
                  </a:tcPr>
                </a:tc>
                <a:tc>
                  <a:txBody>
                    <a:bodyPr/>
                    <a:lstStyle/>
                    <a:p>
                      <a:pPr algn="ctr">
                        <a:defRPr sz="850">
                          <a:solidFill>
                            <a:srgbClr val="E2E8F0"/>
                          </a:solidFill>
                          <a:latin typeface="Arial"/>
                        </a:defRPr>
                      </a:pPr>
                      <a:r>
                        <a:t>2,758</a:t>
                      </a:r>
                    </a:p>
                  </a:txBody>
                  <a:tcPr anchor="ctr">
                    <a:solidFill>
                      <a:srgbClr val="0A111F"/>
                    </a:solidFill>
                  </a:tcPr>
                </a:tc>
                <a:tc>
                  <a:txBody>
                    <a:bodyPr/>
                    <a:lstStyle/>
                    <a:p>
                      <a:pPr algn="ctr">
                        <a:defRPr sz="850">
                          <a:solidFill>
                            <a:srgbClr val="E2E8F0"/>
                          </a:solidFill>
                          <a:latin typeface="Arial"/>
                        </a:defRPr>
                      </a:pPr>
                      <a:r>
                        <a:t>Zero Leakage</a:t>
                      </a:r>
                    </a:p>
                  </a:txBody>
                  <a:tcPr anchor="ctr">
                    <a:solidFill>
                      <a:srgbClr val="0A111F"/>
                    </a:solidFill>
                  </a:tcPr>
                </a:tc>
              </a:tr>
              <a:tr h="487680">
                <a:tc>
                  <a:txBody>
                    <a:bodyPr/>
                    <a:lstStyle/>
                    <a:p>
                      <a:pPr algn="l">
                        <a:defRPr sz="850">
                          <a:solidFill>
                            <a:srgbClr val="FFFFFF"/>
                          </a:solidFill>
                          <a:latin typeface="Arial"/>
                        </a:defRPr>
                      </a:pPr>
                      <a:r>
                        <a:t>Total Evaluated Corpus</a:t>
                      </a:r>
                    </a:p>
                  </a:txBody>
                  <a:tcPr anchor="ctr">
                    <a:solidFill>
                      <a:srgbClr val="0D1526"/>
                    </a:solidFill>
                  </a:tcPr>
                </a:tc>
                <a:tc>
                  <a:txBody>
                    <a:bodyPr/>
                    <a:lstStyle/>
                    <a:p>
                      <a:pPr algn="ctr">
                        <a:defRPr sz="850">
                          <a:solidFill>
                            <a:srgbClr val="E2E8F0"/>
                          </a:solidFill>
                          <a:latin typeface="Arial"/>
                        </a:defRPr>
                      </a:pPr>
                      <a:r>
                        <a:t>44,258</a:t>
                      </a:r>
                    </a:p>
                  </a:txBody>
                  <a:tcPr anchor="ctr">
                    <a:solidFill>
                      <a:srgbClr val="0D1526"/>
                    </a:solidFill>
                  </a:tcPr>
                </a:tc>
                <a:tc>
                  <a:txBody>
                    <a:bodyPr/>
                    <a:lstStyle/>
                    <a:p>
                      <a:pPr algn="ctr">
                        <a:defRPr sz="850">
                          <a:solidFill>
                            <a:srgbClr val="E2E8F0"/>
                          </a:solidFill>
                          <a:latin typeface="Arial"/>
                        </a:defRPr>
                      </a:pPr>
                      <a:r>
                        <a:t>38,583</a:t>
                      </a:r>
                    </a:p>
                  </a:txBody>
                  <a:tcPr anchor="ctr">
                    <a:solidFill>
                      <a:srgbClr val="0D1526"/>
                    </a:solidFill>
                  </a:tcPr>
                </a:tc>
                <a:tc>
                  <a:txBody>
                    <a:bodyPr/>
                    <a:lstStyle/>
                    <a:p>
                      <a:pPr algn="ctr">
                        <a:defRPr sz="850">
                          <a:solidFill>
                            <a:srgbClr val="E2E8F0"/>
                          </a:solidFill>
                          <a:latin typeface="Arial"/>
                        </a:defRPr>
                      </a:pPr>
                      <a:r>
                        <a:t>22,767</a:t>
                      </a:r>
                    </a:p>
                  </a:txBody>
                  <a:tcPr anchor="ctr">
                    <a:solidFill>
                      <a:srgbClr val="0D1526"/>
                    </a:solidFill>
                  </a:tcPr>
                </a:tc>
                <a:tc>
                  <a:txBody>
                    <a:bodyPr/>
                    <a:lstStyle/>
                    <a:p>
                      <a:pPr algn="ctr">
                        <a:defRPr sz="850">
                          <a:solidFill>
                            <a:srgbClr val="E2E8F0"/>
                          </a:solidFill>
                          <a:latin typeface="Arial"/>
                        </a:defRPr>
                      </a:pPr>
                      <a:r>
                        <a:t>21,416</a:t>
                      </a:r>
                    </a:p>
                  </a:txBody>
                  <a:tcPr anchor="ctr">
                    <a:solidFill>
                      <a:srgbClr val="0D1526"/>
                    </a:solidFill>
                  </a:tcPr>
                </a:tc>
                <a:tc>
                  <a:txBody>
                    <a:bodyPr/>
                    <a:lstStyle/>
                    <a:p>
                      <a:pPr algn="ctr">
                        <a:defRPr sz="850">
                          <a:solidFill>
                            <a:srgbClr val="E2E8F0"/>
                          </a:solidFill>
                          <a:latin typeface="Arial"/>
                        </a:defRPr>
                      </a:pPr>
                      <a:r>
                        <a:t>100.00%</a:t>
                      </a:r>
                    </a:p>
                  </a:txBody>
                  <a:tcPr anchor="ctr">
                    <a:solidFill>
                      <a:srgbClr val="0D1526"/>
                    </a:solidFill>
                  </a:tcPr>
                </a:tc>
              </a:tr>
            </a:tbl>
          </a:graphicData>
        </a:graphic>
      </p:graphicFrame>
      <p:sp>
        <p:nvSpPr>
          <p:cNvPr id="8" name="Rounded Rectangle 7"/>
          <p:cNvSpPr/>
          <p:nvPr/>
        </p:nvSpPr>
        <p:spPr>
          <a:xfrm>
            <a:off x="7223760" y="1645920"/>
            <a:ext cx="4236415" cy="4663440"/>
          </a:xfrm>
          <a:prstGeom prst="roundRect">
            <a:avLst/>
          </a:prstGeom>
          <a:solidFill>
            <a:srgbClr val="0D1526"/>
          </a:solidFill>
          <a:ln w="1524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0" y="1828800"/>
            <a:ext cx="3870655" cy="4297680"/>
          </a:xfrm>
          <a:prstGeom prst="rect">
            <a:avLst/>
          </a:prstGeom>
          <a:noFill/>
        </p:spPr>
        <p:txBody>
          <a:bodyPr wrap="square" lIns="0" rIns="0" tIns="0" bIns="0">
            <a:spAutoFit/>
          </a:bodyPr>
          <a:lstStyle/>
          <a:p>
            <a:pPr>
              <a:defRPr sz="1100" b="1">
                <a:solidFill>
                  <a:srgbClr val="00F2FE"/>
                </a:solidFill>
                <a:latin typeface="Arial"/>
              </a:defRPr>
            </a:pPr>
            <a:r>
              <a:t>ANTI-LEAKAGE ENGINEERING</a:t>
            </a:r>
          </a:p>
          <a:p>
            <a:br/>
            <a:pPr>
              <a:defRPr sz="950" b="1">
                <a:solidFill>
                  <a:srgbClr val="FFFFFF"/>
                </a:solidFill>
                <a:latin typeface="Arial"/>
              </a:defRPr>
            </a:pPr>
            <a:r>
              <a:t>The Duplicate Leakage Flaw:</a:t>
            </a:r>
          </a:p>
          <a:p>
            <a:pPr>
              <a:defRPr sz="850">
                <a:solidFill>
                  <a:srgbClr val="E2E8F0"/>
                </a:solidFill>
                <a:latin typeface="Arial"/>
              </a:defRPr>
            </a:pPr>
            <a:r>
              <a:t>In standard news datasets, identical stories are republished across multiple outlets. Random splitting assigns copies of the same text to both train and test, inflating accuracy artificially.</a:t>
            </a:r>
          </a:p>
          <a:p>
            <a:br/>
            <a:pPr>
              <a:defRPr sz="950" b="1">
                <a:solidFill>
                  <a:srgbClr val="FFFFFF"/>
                </a:solidFill>
                <a:latin typeface="Arial"/>
              </a:defRPr>
            </a:pPr>
            <a:r>
              <a:t>Canonical MD5 Grouping:</a:t>
            </a:r>
          </a:p>
          <a:p>
            <a:pPr>
              <a:defRPr sz="850">
                <a:solidFill>
                  <a:srgbClr val="E2E8F0"/>
                </a:solidFill>
                <a:latin typeface="Arial"/>
              </a:defRPr>
            </a:pPr>
            <a:r>
              <a:t>We compute MD5(normalize_whitespace(lower(body))). All duplicate copies of an article are co-assigned to the EXACT same partition via group_aware_stratified_split.</a:t>
            </a:r>
          </a:p>
          <a:p>
            <a:br/>
            <a:pPr>
              <a:defRPr sz="950" b="1">
                <a:solidFill>
                  <a:srgbClr val="FFFFFF"/>
                </a:solidFill>
                <a:latin typeface="Arial"/>
              </a:defRPr>
            </a:pPr>
            <a:r>
              <a:t>Zero Cross-Split Contamination:</a:t>
            </a:r>
          </a:p>
          <a:p>
            <a:pPr>
              <a:defRPr sz="850">
                <a:solidFill>
                  <a:srgbClr val="E2E8F0"/>
                </a:solidFill>
                <a:latin typeface="Arial"/>
              </a:defRPr>
            </a:pPr>
            <a:r>
              <a:t>Cryptographic audit confirms: Intersection(Train_Hashes, Test_Hashes) == 0 (0.0% leakage across 38,583 clusters).</a:t>
            </a:r>
          </a:p>
          <a:p>
            <a:br/>
            <a:pPr>
              <a:defRPr sz="950" b="1">
                <a:solidFill>
                  <a:srgbClr val="FFFFFF"/>
                </a:solidFill>
                <a:latin typeface="Arial"/>
              </a:defRPr>
            </a:pPr>
            <a:r>
              <a:t>Synthetic Benchmark Quarantined:</a:t>
            </a:r>
          </a:p>
          <a:p>
            <a:pPr>
              <a:defRPr sz="850">
                <a:solidFill>
                  <a:srgbClr val="E2E8F0"/>
                </a:solidFill>
                <a:latin typeface="Arial"/>
              </a:defRPr>
            </a:pPr>
            <a:r>
              <a:t>The legacy synthetic benchmark (400 rows, 16 unique bodies) is strictly reserved as an offline regression suite.</a:t>
            </a:r>
          </a:p>
        </p:txBody>
      </p:sp>
      <p:sp>
        <p:nvSpPr>
          <p:cNvPr id="10" name="Rounded Rectangle 9"/>
          <p:cNvSpPr/>
          <p:nvPr/>
        </p:nvSpPr>
        <p:spPr>
          <a:xfrm>
            <a:off x="731520" y="4754880"/>
            <a:ext cx="6217920" cy="1554480"/>
          </a:xfrm>
          <a:prstGeom prst="roundRect">
            <a:avLst/>
          </a:prstGeom>
          <a:solidFill>
            <a:srgbClr val="111C33"/>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846320"/>
            <a:ext cx="5998464" cy="1371600"/>
          </a:xfrm>
          <a:prstGeom prst="rect">
            <a:avLst/>
          </a:prstGeom>
          <a:noFill/>
        </p:spPr>
        <p:txBody>
          <a:bodyPr wrap="square" lIns="0" rIns="0" tIns="0" bIns="0">
            <a:spAutoFit/>
          </a:bodyPr>
          <a:lstStyle/>
          <a:p>
            <a:pPr algn="ctr">
              <a:defRPr sz="2000" b="1">
                <a:solidFill>
                  <a:srgbClr val="22C55E"/>
                </a:solidFill>
                <a:latin typeface="Arial"/>
              </a:defRPr>
            </a:pPr>
            <a:r>
              <a:t>0.0% LEAKAGE</a:t>
            </a:r>
          </a:p>
          <a:p>
            <a:pPr algn="ctr">
              <a:defRPr sz="950" b="1">
                <a:solidFill>
                  <a:srgbClr val="FFFFFF"/>
                </a:solidFill>
                <a:latin typeface="Arial"/>
              </a:defRPr>
            </a:pPr>
            <a:r>
              <a:t>Mathematically Audited Across 38,583 Unique Body Clusters</a:t>
            </a:r>
          </a:p>
          <a:p>
            <a:pPr algn="ctr">
              <a:defRPr sz="800">
                <a:solidFill>
                  <a:srgbClr val="94A3B8"/>
                </a:solidFill>
                <a:latin typeface="Arial"/>
              </a:defRPr>
            </a:pPr>
            <a:r>
              <a:t>Wire-Service Header Removal Regex Eradicates Publisher Tag Memorization Shortcuts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rIns="0" tIns="0" bIns="0">
            <a:spAutoFit/>
          </a:bodyPr>
          <a:lstStyle/>
          <a:p>
            <a:pPr>
              <a:defRPr sz="950" b="1">
                <a:solidFill>
                  <a:srgbClr val="00F2FE"/>
                </a:solidFill>
                <a:latin typeface="Arial"/>
              </a:defRPr>
            </a:pPr>
            <a:r>
              <a:t>06 • IMPLEMENTATION — CLASSIFIER BENCHMARKING</a:t>
            </a:r>
          </a:p>
        </p:txBody>
      </p:sp>
      <p:sp>
        <p:nvSpPr>
          <p:cNvPr id="4" name="TextBox 3"/>
          <p:cNvSpPr txBox="1"/>
          <p:nvPr/>
        </p:nvSpPr>
        <p:spPr>
          <a:xfrm>
            <a:off x="731520" y="640080"/>
            <a:ext cx="10728655" cy="457200"/>
          </a:xfrm>
          <a:prstGeom prst="rect">
            <a:avLst/>
          </a:prstGeom>
          <a:noFill/>
        </p:spPr>
        <p:txBody>
          <a:bodyPr wrap="square" lIns="0" rIns="0" tIns="0" bIns="0">
            <a:spAutoFit/>
          </a:bodyPr>
          <a:lstStyle/>
          <a:p>
            <a:pPr>
              <a:defRPr sz="1900" b="1">
                <a:solidFill>
                  <a:srgbClr val="FFFFFF"/>
                </a:solidFill>
                <a:latin typeface="Arial"/>
              </a:defRPr>
            </a:pPr>
            <a:r>
              <a:t>Statistical Machine Learning &amp; Platt Probability Calibration</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050">
                <a:solidFill>
                  <a:srgbClr val="94A3B8"/>
                </a:solidFill>
                <a:latin typeface="Arial"/>
              </a:defRPr>
            </a:pPr>
            <a:r>
              <a:t>Evaluating Diverse Classifiers &amp; Transforming Raw Margins into Calibrated Posteriors</a:t>
            </a:r>
          </a:p>
        </p:txBody>
      </p:sp>
      <p:sp>
        <p:nvSpPr>
          <p:cNvPr id="6" name="Rectangle 5"/>
          <p:cNvSpPr/>
          <p:nvPr/>
        </p:nvSpPr>
        <p:spPr>
          <a:xfrm>
            <a:off x="731520" y="1389888"/>
            <a:ext cx="10728655" cy="18288"/>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3383280" cy="4754880"/>
          </a:xfrm>
          <a:prstGeom prst="roundRect">
            <a:avLst/>
          </a:prstGeom>
          <a:solidFill>
            <a:srgbClr val="0D15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3017520" cy="4389120"/>
          </a:xfrm>
          <a:prstGeom prst="rect">
            <a:avLst/>
          </a:prstGeom>
          <a:noFill/>
        </p:spPr>
        <p:txBody>
          <a:bodyPr wrap="square" lIns="0" rIns="0" tIns="0" bIns="0">
            <a:spAutoFit/>
          </a:bodyPr>
          <a:lstStyle/>
          <a:p>
            <a:pPr>
              <a:defRPr sz="850" b="1">
                <a:solidFill>
                  <a:srgbClr val="38BDF8"/>
                </a:solidFill>
                <a:latin typeface="Arial"/>
              </a:defRPr>
            </a:pPr>
            <a:r>
              <a:t>BASELINE BENCHMARK</a:t>
            </a:r>
          </a:p>
          <a:p>
            <a:pPr>
              <a:defRPr sz="1300" b="1">
                <a:solidFill>
                  <a:srgbClr val="FFFFFF"/>
                </a:solidFill>
                <a:latin typeface="Arial"/>
              </a:defRPr>
            </a:pPr>
            <a:r>
              <a:t>Logistic Regression</a:t>
            </a:r>
          </a:p>
          <a:p>
            <a:br/>
            <a:pPr>
              <a:defRPr sz="950" b="1">
                <a:solidFill>
                  <a:srgbClr val="38BDF8"/>
                </a:solidFill>
                <a:latin typeface="Courier New"/>
              </a:defRPr>
            </a:pPr>
            <a:r>
              <a:t>P(y = 1 | x) = σ(wᵀx + b)</a:t>
            </a:r>
            <a:br/>
          </a:p>
          <a:p>
            <a:pPr>
              <a:defRPr sz="850">
                <a:solidFill>
                  <a:srgbClr val="E2E8F0"/>
                </a:solidFill>
                <a:latin typeface="Arial"/>
              </a:defRPr>
            </a:pPr>
            <a:r>
              <a:t>• L2-regularized binary cross-entropy minimization.</a:t>
            </a:r>
          </a:p>
          <a:p>
            <a:pPr>
              <a:defRPr sz="850">
                <a:solidFill>
                  <a:srgbClr val="E2E8F0"/>
                </a:solidFill>
                <a:latin typeface="Arial"/>
              </a:defRPr>
            </a:pPr>
            <a:r>
              <a:t>• L-BFGS optimization algorithm (C = 1.0).</a:t>
            </a:r>
          </a:p>
          <a:p>
            <a:pPr>
              <a:defRPr sz="850">
                <a:solidFill>
                  <a:srgbClr val="E2E8F0"/>
                </a:solidFill>
                <a:latin typeface="Arial"/>
              </a:defRPr>
            </a:pPr>
            <a:r>
              <a:t>• Direct continuous log-odds interpretability.</a:t>
            </a:r>
          </a:p>
          <a:p>
            <a:pPr>
              <a:defRPr sz="850">
                <a:solidFill>
                  <a:srgbClr val="E2E8F0"/>
                </a:solidFill>
                <a:latin typeface="Arial"/>
              </a:defRPr>
            </a:pPr>
            <a:r>
              <a:t>• Fast, highly stable convex convergence.</a:t>
            </a:r>
          </a:p>
        </p:txBody>
      </p:sp>
      <p:sp>
        <p:nvSpPr>
          <p:cNvPr id="9" name="Rounded Rectangle 8"/>
          <p:cNvSpPr/>
          <p:nvPr/>
        </p:nvSpPr>
        <p:spPr>
          <a:xfrm>
            <a:off x="4389120" y="1645920"/>
            <a:ext cx="3383280" cy="4754880"/>
          </a:xfrm>
          <a:prstGeom prst="roundRect">
            <a:avLst/>
          </a:prstGeom>
          <a:solidFill>
            <a:srgbClr val="0D15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828800"/>
            <a:ext cx="3017520" cy="4389120"/>
          </a:xfrm>
          <a:prstGeom prst="rect">
            <a:avLst/>
          </a:prstGeom>
          <a:noFill/>
        </p:spPr>
        <p:txBody>
          <a:bodyPr wrap="square" lIns="0" rIns="0" tIns="0" bIns="0">
            <a:spAutoFit/>
          </a:bodyPr>
          <a:lstStyle/>
          <a:p>
            <a:pPr>
              <a:defRPr sz="850" b="1">
                <a:solidFill>
                  <a:srgbClr val="14B8A6"/>
                </a:solidFill>
                <a:latin typeface="Arial"/>
              </a:defRPr>
            </a:pPr>
            <a:r>
              <a:t>PROBABILISTIC CLASSIFIER</a:t>
            </a:r>
          </a:p>
          <a:p>
            <a:pPr>
              <a:defRPr sz="1300" b="1">
                <a:solidFill>
                  <a:srgbClr val="FFFFFF"/>
                </a:solidFill>
                <a:latin typeface="Arial"/>
              </a:defRPr>
            </a:pPr>
            <a:r>
              <a:t>Multinomial Naive Bayes</a:t>
            </a:r>
          </a:p>
          <a:p>
            <a:br/>
            <a:pPr>
              <a:defRPr sz="950" b="1">
                <a:solidFill>
                  <a:srgbClr val="38BDF8"/>
                </a:solidFill>
                <a:latin typeface="Courier New"/>
              </a:defRPr>
            </a:pPr>
            <a:r>
              <a:t>θ_yi = (N_yi + α) / (N_y + α·n)</a:t>
            </a:r>
            <a:br/>
          </a:p>
          <a:p>
            <a:pPr>
              <a:defRPr sz="850">
                <a:solidFill>
                  <a:srgbClr val="E2E8F0"/>
                </a:solidFill>
                <a:latin typeface="Arial"/>
              </a:defRPr>
            </a:pPr>
            <a:r>
              <a:t>• Bayes' theorem under conditional independence.</a:t>
            </a:r>
          </a:p>
          <a:p>
            <a:pPr>
              <a:defRPr sz="850">
                <a:solidFill>
                  <a:srgbClr val="E2E8F0"/>
                </a:solidFill>
                <a:latin typeface="Arial"/>
              </a:defRPr>
            </a:pPr>
            <a:r>
              <a:t>• Laplace smoothing (α = 1.0) prevents zero-probability tokens.</a:t>
            </a:r>
          </a:p>
          <a:p>
            <a:pPr>
              <a:defRPr sz="850">
                <a:solidFill>
                  <a:srgbClr val="E2E8F0"/>
                </a:solidFill>
                <a:latin typeface="Arial"/>
              </a:defRPr>
            </a:pPr>
            <a:r>
              <a:t>• Lightweight inference (&lt;5 ms per document).</a:t>
            </a:r>
          </a:p>
          <a:p>
            <a:pPr>
              <a:defRPr sz="850">
                <a:solidFill>
                  <a:srgbClr val="E2E8F0"/>
                </a:solidFill>
                <a:latin typeface="Arial"/>
              </a:defRPr>
            </a:pPr>
            <a:r>
              <a:t>• Strong generative baseline for text classification.</a:t>
            </a:r>
          </a:p>
        </p:txBody>
      </p:sp>
      <p:sp>
        <p:nvSpPr>
          <p:cNvPr id="11" name="Rounded Rectangle 10"/>
          <p:cNvSpPr/>
          <p:nvPr/>
        </p:nvSpPr>
        <p:spPr>
          <a:xfrm>
            <a:off x="8046720" y="1645920"/>
            <a:ext cx="3383280" cy="4754880"/>
          </a:xfrm>
          <a:prstGeom prst="roundRect">
            <a:avLst/>
          </a:prstGeom>
          <a:solidFill>
            <a:srgbClr val="0D1526"/>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828800"/>
            <a:ext cx="3017520" cy="4389120"/>
          </a:xfrm>
          <a:prstGeom prst="rect">
            <a:avLst/>
          </a:prstGeom>
          <a:noFill/>
        </p:spPr>
        <p:txBody>
          <a:bodyPr wrap="square" lIns="0" rIns="0" tIns="0" bIns="0">
            <a:spAutoFit/>
          </a:bodyPr>
          <a:lstStyle/>
          <a:p>
            <a:pPr>
              <a:defRPr sz="850" b="1">
                <a:solidFill>
                  <a:srgbClr val="00F2FE"/>
                </a:solidFill>
                <a:latin typeface="Arial"/>
              </a:defRPr>
            </a:pPr>
            <a:r>
              <a:t>PRIMARY PRODUCTION MODEL</a:t>
            </a:r>
          </a:p>
          <a:p>
            <a:pPr>
              <a:defRPr sz="1300" b="1">
                <a:solidFill>
                  <a:srgbClr val="FFFFFF"/>
                </a:solidFill>
                <a:latin typeface="Arial"/>
              </a:defRPr>
            </a:pPr>
            <a:r>
              <a:t>Linear SVM (Calibrated) ★</a:t>
            </a:r>
          </a:p>
          <a:p>
            <a:br/>
            <a:pPr>
              <a:defRPr sz="950" b="1">
                <a:solidFill>
                  <a:srgbClr val="38BDF8"/>
                </a:solidFill>
                <a:latin typeface="Courier New"/>
              </a:defRPr>
            </a:pPr>
            <a:r>
              <a:t>P(y = 1 | f) = 1 / (1 + exp(A·f + B))</a:t>
            </a:r>
            <a:br/>
          </a:p>
          <a:p>
            <a:pPr>
              <a:defRPr sz="850">
                <a:solidFill>
                  <a:srgbClr val="E2E8F0"/>
                </a:solidFill>
                <a:latin typeface="Arial"/>
              </a:defRPr>
            </a:pPr>
            <a:r>
              <a:t>• Soft-margin hyperplane maximizing geometric separation.</a:t>
            </a:r>
          </a:p>
          <a:p>
            <a:pPr>
              <a:defRPr sz="850">
                <a:solidFill>
                  <a:srgbClr val="E2E8F0"/>
                </a:solidFill>
                <a:latin typeface="Arial"/>
              </a:defRPr>
            </a:pPr>
            <a:r>
              <a:t>• 3-fold cross-validated Platt scaling (sigmoid calibration).</a:t>
            </a:r>
          </a:p>
          <a:p>
            <a:pPr>
              <a:defRPr sz="850">
                <a:solidFill>
                  <a:srgbClr val="E2E8F0"/>
                </a:solidFill>
                <a:latin typeface="Arial"/>
              </a:defRPr>
            </a:pPr>
            <a:r>
              <a:t>• Transforms uncalibrated margins into true posterior probabilities.</a:t>
            </a:r>
          </a:p>
          <a:p>
            <a:pPr>
              <a:defRPr sz="850">
                <a:solidFill>
                  <a:srgbClr val="E2E8F0"/>
                </a:solidFill>
                <a:latin typeface="Arial"/>
              </a:defRPr>
            </a:pPr>
            <a:r>
              <a:t>• Selected based on highest validation Macro F1 (0.9855).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rIns="0" tIns="0" bIns="0">
            <a:spAutoFit/>
          </a:bodyPr>
          <a:lstStyle/>
          <a:p>
            <a:pPr>
              <a:defRPr sz="950" b="1">
                <a:solidFill>
                  <a:srgbClr val="00F2FE"/>
                </a:solidFill>
                <a:latin typeface="Arial"/>
              </a:defRPr>
            </a:pPr>
            <a:r>
              <a:t>06 • IMPLEMENTATION — EXPLAINABLE AI (XAI)</a:t>
            </a:r>
          </a:p>
        </p:txBody>
      </p:sp>
      <p:sp>
        <p:nvSpPr>
          <p:cNvPr id="4" name="TextBox 3"/>
          <p:cNvSpPr txBox="1"/>
          <p:nvPr/>
        </p:nvSpPr>
        <p:spPr>
          <a:xfrm>
            <a:off x="731520" y="640080"/>
            <a:ext cx="10728655" cy="457200"/>
          </a:xfrm>
          <a:prstGeom prst="rect">
            <a:avLst/>
          </a:prstGeom>
          <a:noFill/>
        </p:spPr>
        <p:txBody>
          <a:bodyPr wrap="square" lIns="0" rIns="0" tIns="0" bIns="0">
            <a:spAutoFit/>
          </a:bodyPr>
          <a:lstStyle/>
          <a:p>
            <a:pPr>
              <a:defRPr sz="1900" b="1">
                <a:solidFill>
                  <a:srgbClr val="FFFFFF"/>
                </a:solidFill>
                <a:latin typeface="Arial"/>
              </a:defRPr>
            </a:pPr>
            <a:r>
              <a:t>Dual Explainability Engine: LIME &amp; SHAP</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050">
                <a:solidFill>
                  <a:srgbClr val="94A3B8"/>
                </a:solidFill>
                <a:latin typeface="Arial"/>
              </a:defRPr>
            </a:pPr>
            <a:r>
              <a:t>Local Surrogate Perturbations vs. Cooperative Game-Theoretic Shapley Attributions</a:t>
            </a:r>
          </a:p>
        </p:txBody>
      </p:sp>
      <p:sp>
        <p:nvSpPr>
          <p:cNvPr id="6" name="Rectangle 5"/>
          <p:cNvSpPr/>
          <p:nvPr/>
        </p:nvSpPr>
        <p:spPr>
          <a:xfrm>
            <a:off x="731520" y="1389888"/>
            <a:ext cx="10728655" cy="18288"/>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5212080" cy="3657600"/>
          </a:xfrm>
          <a:prstGeom prst="roundRect">
            <a:avLst/>
          </a:prstGeom>
          <a:solidFill>
            <a:srgbClr val="0D1526"/>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846320" cy="3291840"/>
          </a:xfrm>
          <a:prstGeom prst="rect">
            <a:avLst/>
          </a:prstGeom>
          <a:noFill/>
        </p:spPr>
        <p:txBody>
          <a:bodyPr wrap="square" lIns="0" rIns="0" tIns="0" bIns="0">
            <a:spAutoFit/>
          </a:bodyPr>
          <a:lstStyle/>
          <a:p>
            <a:pPr>
              <a:defRPr sz="950" b="1">
                <a:solidFill>
                  <a:srgbClr val="00F2FE"/>
                </a:solidFill>
                <a:latin typeface="Arial"/>
              </a:defRPr>
            </a:pPr>
            <a:r>
              <a:t>LIME (LOCAL INTERPRETABLE MODEL-AGNOSTIC EXPLANATIONS)</a:t>
            </a:r>
          </a:p>
          <a:p>
            <a:pPr>
              <a:defRPr sz="900">
                <a:solidFill>
                  <a:srgbClr val="E2E8F0"/>
                </a:solidFill>
                <a:latin typeface="Arial"/>
              </a:defRPr>
            </a:pPr>
            <a:r>
              <a:t>•  Formulation: Trains a local sparse linear surrogate model g on perturbed instances z' around original input x.</a:t>
            </a:r>
          </a:p>
          <a:p>
            <a:pPr>
              <a:defRPr sz="900">
                <a:solidFill>
                  <a:srgbClr val="E2E8F0"/>
                </a:solidFill>
                <a:latin typeface="Arial"/>
              </a:defRPr>
            </a:pPr>
            <a:r>
              <a:t>•  Perturbation Sampling: Uniformly samples N = 500 word-presence vectors z' in {0, 1}^d.</a:t>
            </a:r>
          </a:p>
          <a:p>
            <a:pPr>
              <a:defRPr sz="900">
                <a:solidFill>
                  <a:srgbClr val="E2E8F0"/>
                </a:solidFill>
                <a:latin typeface="Arial"/>
              </a:defRPr>
            </a:pPr>
            <a:r>
              <a:t>•  Distance Weighting: Weights perturbed samples via exponential cosine distance kernel: π_x(z) = exp(-D(x, z)² / σ²).</a:t>
            </a:r>
          </a:p>
          <a:p>
            <a:pPr>
              <a:defRPr sz="900">
                <a:solidFill>
                  <a:srgbClr val="E2E8F0"/>
                </a:solidFill>
                <a:latin typeface="Arial"/>
              </a:defRPr>
            </a:pPr>
            <a:r>
              <a:t>•  Outcome: Extracts top deceptive tokens (pushing toward Likely Fake) and credibility tokens (pushing toward Likely Real).</a:t>
            </a:r>
          </a:p>
        </p:txBody>
      </p:sp>
      <p:sp>
        <p:nvSpPr>
          <p:cNvPr id="9" name="Rounded Rectangle 8"/>
          <p:cNvSpPr/>
          <p:nvPr/>
        </p:nvSpPr>
        <p:spPr>
          <a:xfrm>
            <a:off x="6248095" y="1645920"/>
            <a:ext cx="5212080" cy="3657600"/>
          </a:xfrm>
          <a:prstGeom prst="roundRect">
            <a:avLst/>
          </a:prstGeom>
          <a:solidFill>
            <a:srgbClr val="0D1526"/>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1828800"/>
            <a:ext cx="4846320" cy="3291840"/>
          </a:xfrm>
          <a:prstGeom prst="rect">
            <a:avLst/>
          </a:prstGeom>
          <a:noFill/>
        </p:spPr>
        <p:txBody>
          <a:bodyPr wrap="square" lIns="0" rIns="0" tIns="0" bIns="0">
            <a:spAutoFit/>
          </a:bodyPr>
          <a:lstStyle/>
          <a:p>
            <a:pPr>
              <a:defRPr sz="950" b="1">
                <a:solidFill>
                  <a:srgbClr val="A855F7"/>
                </a:solidFill>
                <a:latin typeface="Arial"/>
              </a:defRPr>
            </a:pPr>
            <a:r>
              <a:t>SHAP (SHAPLEY ADDITIVE EXPLANATIONS)</a:t>
            </a:r>
          </a:p>
          <a:p>
            <a:pPr>
              <a:defRPr sz="900">
                <a:solidFill>
                  <a:srgbClr val="E2E8F0"/>
                </a:solidFill>
                <a:latin typeface="Arial"/>
              </a:defRPr>
            </a:pPr>
            <a:r>
              <a:t>•  Formulation: Grounded in cooperative game theory, calculating the exact marginal contribution of each token.</a:t>
            </a:r>
          </a:p>
          <a:p>
            <a:pPr>
              <a:defRPr sz="900">
                <a:solidFill>
                  <a:srgbClr val="E2E8F0"/>
                </a:solidFill>
                <a:latin typeface="Arial"/>
              </a:defRPr>
            </a:pPr>
            <a:r>
              <a:t>•  Axiomatic Rigor: Satisfies Efficiency, Symmetry, Dummy (Null Effect), and Additivity.</a:t>
            </a:r>
          </a:p>
          <a:p>
            <a:pPr>
              <a:defRPr sz="900">
                <a:solidFill>
                  <a:srgbClr val="E2E8F0"/>
                </a:solidFill>
                <a:latin typeface="Arial"/>
              </a:defRPr>
            </a:pPr>
            <a:r>
              <a:t>•  Linear Optimization: For calibrated Linear SVM, reduces to closed-form: φ_i = w_i · (x_i - E[x_i]), computing in &lt;100 ms.</a:t>
            </a:r>
          </a:p>
          <a:p>
            <a:pPr>
              <a:defRPr sz="900">
                <a:solidFill>
                  <a:srgbClr val="E2E8F0"/>
                </a:solidFill>
                <a:latin typeface="Arial"/>
              </a:defRPr>
            </a:pPr>
            <a:r>
              <a:t>•  Outcome: Decomposes prediction into base value + additive token log-odds shifts.</a:t>
            </a:r>
          </a:p>
        </p:txBody>
      </p:sp>
      <p:sp>
        <p:nvSpPr>
          <p:cNvPr id="11" name="Rounded Rectangle 10"/>
          <p:cNvSpPr/>
          <p:nvPr/>
        </p:nvSpPr>
        <p:spPr>
          <a:xfrm>
            <a:off x="731520" y="5486400"/>
            <a:ext cx="10728655" cy="868680"/>
          </a:xfrm>
          <a:prstGeom prst="roundRect">
            <a:avLst/>
          </a:prstGeom>
          <a:solidFill>
            <a:srgbClr val="111C33"/>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559552"/>
            <a:ext cx="10362895" cy="731520"/>
          </a:xfrm>
          <a:prstGeom prst="rect">
            <a:avLst/>
          </a:prstGeom>
          <a:noFill/>
        </p:spPr>
        <p:txBody>
          <a:bodyPr wrap="square" lIns="0" rIns="0" tIns="0" bIns="0">
            <a:spAutoFit/>
          </a:bodyPr>
          <a:lstStyle/>
          <a:p>
            <a:pPr>
              <a:defRPr sz="900" b="1">
                <a:solidFill>
                  <a:srgbClr val="F59E0B"/>
                </a:solidFill>
                <a:latin typeface="Arial"/>
              </a:defRPr>
            </a:pPr>
            <a:r>
              <a:t>CRITICAL EPISTEMIC PRINCIPLE: XAI EXPLAINS PREDICTIONS, NOT REALITY</a:t>
            </a:r>
          </a:p>
          <a:p>
            <a:pPr>
              <a:defRPr sz="900">
                <a:solidFill>
                  <a:srgbClr val="FFFFFF"/>
                </a:solidFill>
                <a:latin typeface="Arial"/>
              </a:defRPr>
            </a:pPr>
            <a:r>
              <a:t>LIME and SHAP explain which lexical features triggered the model's classification. They do NOT independently verify whether an event occurred in the real world. External factual truth requires empirical evidence verification.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rIns="0" tIns="0" bIns="0">
            <a:spAutoFit/>
          </a:bodyPr>
          <a:lstStyle/>
          <a:p>
            <a:pPr>
              <a:defRPr sz="950" b="1">
                <a:solidFill>
                  <a:srgbClr val="00F2FE"/>
                </a:solidFill>
                <a:latin typeface="Arial"/>
              </a:defRPr>
            </a:pPr>
            <a:r>
              <a:t>06 • IMPLEMENTATION — EVIDENCE &amp; NLI</a:t>
            </a:r>
          </a:p>
        </p:txBody>
      </p:sp>
      <p:sp>
        <p:nvSpPr>
          <p:cNvPr id="4" name="TextBox 3"/>
          <p:cNvSpPr txBox="1"/>
          <p:nvPr/>
        </p:nvSpPr>
        <p:spPr>
          <a:xfrm>
            <a:off x="731520" y="640080"/>
            <a:ext cx="10728655" cy="457200"/>
          </a:xfrm>
          <a:prstGeom prst="rect">
            <a:avLst/>
          </a:prstGeom>
          <a:noFill/>
        </p:spPr>
        <p:txBody>
          <a:bodyPr wrap="square" lIns="0" rIns="0" tIns="0" bIns="0">
            <a:spAutoFit/>
          </a:bodyPr>
          <a:lstStyle/>
          <a:p>
            <a:pPr>
              <a:defRPr sz="1900" b="1">
                <a:solidFill>
                  <a:srgbClr val="FFFFFF"/>
                </a:solidFill>
                <a:latin typeface="Arial"/>
              </a:defRPr>
            </a:pPr>
            <a:r>
              <a:t>Cross-Encoder NLI Verification &amp; Contextual UCB1 Bandit</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050">
                <a:solidFill>
                  <a:srgbClr val="94A3B8"/>
                </a:solidFill>
                <a:latin typeface="Arial"/>
              </a:defRPr>
            </a:pPr>
            <a:r>
              <a:t>Grounding Claims in Real-World Evidence via Pretrained DeBERTa-v3 &amp; Adaptive Search</a:t>
            </a:r>
          </a:p>
        </p:txBody>
      </p:sp>
      <p:sp>
        <p:nvSpPr>
          <p:cNvPr id="6" name="Rectangle 5"/>
          <p:cNvSpPr/>
          <p:nvPr/>
        </p:nvSpPr>
        <p:spPr>
          <a:xfrm>
            <a:off x="731520" y="1389888"/>
            <a:ext cx="10728655" cy="18288"/>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5212080" cy="4663440"/>
          </a:xfrm>
          <a:prstGeom prst="roundRect">
            <a:avLst/>
          </a:prstGeom>
          <a:solidFill>
            <a:srgbClr val="0D1526"/>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846320" cy="4297680"/>
          </a:xfrm>
          <a:prstGeom prst="rect">
            <a:avLst/>
          </a:prstGeom>
          <a:noFill/>
        </p:spPr>
        <p:txBody>
          <a:bodyPr wrap="square" lIns="0" rIns="0" tIns="0" bIns="0">
            <a:spAutoFit/>
          </a:bodyPr>
          <a:lstStyle/>
          <a:p>
            <a:pPr>
              <a:defRPr sz="1050" b="1">
                <a:solidFill>
                  <a:srgbClr val="00F2FE"/>
                </a:solidFill>
                <a:latin typeface="Arial"/>
              </a:defRPr>
            </a:pPr>
            <a:r>
              <a:t>NEURAL NATURAL LANGUAGE INFERENCE (NLI)</a:t>
            </a:r>
          </a:p>
          <a:p>
            <a:br/>
            <a:pPr>
              <a:defRPr sz="900" b="1">
                <a:solidFill>
                  <a:srgbClr val="FFFFFF"/>
                </a:solidFill>
                <a:latin typeface="Arial"/>
              </a:defRPr>
            </a:pPr>
            <a:r>
              <a:t>Pretrained Model Architecture:</a:t>
            </a:r>
          </a:p>
          <a:p>
            <a:pPr>
              <a:defRPr sz="850">
                <a:solidFill>
                  <a:srgbClr val="E2E8F0"/>
                </a:solidFill>
                <a:latin typeface="Arial"/>
              </a:defRPr>
            </a:pPr>
            <a:r>
              <a:t>cross-encoder/nli-deberta-v3-base (435M parameters).</a:t>
            </a:r>
          </a:p>
          <a:p>
            <a:br/>
            <a:pPr>
              <a:defRPr sz="900" b="1">
                <a:solidFill>
                  <a:srgbClr val="FFFFFF"/>
                </a:solidFill>
                <a:latin typeface="Arial"/>
              </a:defRPr>
            </a:pPr>
            <a:r>
              <a:t>Disentangled Attention:</a:t>
            </a:r>
          </a:p>
          <a:p>
            <a:pPr>
              <a:defRPr sz="850">
                <a:solidFill>
                  <a:srgbClr val="E2E8F0"/>
                </a:solidFill>
                <a:latin typeface="Arial"/>
              </a:defRPr>
            </a:pPr>
            <a:r>
              <a:t>Decouples content representations from relative token positions, achieving superior cross-sequence reasoning over standard BERT.</a:t>
            </a:r>
          </a:p>
          <a:p>
            <a:br/>
            <a:pPr>
              <a:defRPr sz="900" b="1">
                <a:solidFill>
                  <a:srgbClr val="FFFFFF"/>
                </a:solidFill>
                <a:latin typeface="Arial"/>
              </a:defRPr>
            </a:pPr>
            <a:r>
              <a:t>Premise-Hypothesis Encoding:</a:t>
            </a:r>
          </a:p>
          <a:p>
            <a:pPr>
              <a:defRPr sz="850">
                <a:solidFill>
                  <a:srgbClr val="E2E8F0"/>
                </a:solidFill>
                <a:latin typeface="Arial"/>
              </a:defRPr>
            </a:pPr>
            <a:r>
              <a:t>Full bidirectional cross-attention over [CLS] Premise [SEP] Hypothesis [SEP], scoring claim veracity against retrieved news evidence.</a:t>
            </a:r>
          </a:p>
          <a:p>
            <a:br/>
            <a:pPr>
              <a:defRPr sz="900" b="1">
                <a:solidFill>
                  <a:srgbClr val="FFFFFF"/>
                </a:solidFill>
                <a:latin typeface="Arial"/>
              </a:defRPr>
            </a:pPr>
            <a:r>
              <a:t>Tri-Class Softmax Distribution:</a:t>
            </a:r>
          </a:p>
          <a:p>
            <a:pPr>
              <a:defRPr sz="850">
                <a:solidFill>
                  <a:srgbClr val="E2E8F0"/>
                </a:solidFill>
                <a:latin typeface="Arial"/>
              </a:defRPr>
            </a:pPr>
            <a:r>
              <a:t>Entailment (Claim corroborated) | Contradiction (Claim refuted) | Neutral (Insufficient evidence).</a:t>
            </a:r>
          </a:p>
          <a:p>
            <a:br/>
            <a:pPr>
              <a:defRPr sz="900" b="1">
                <a:solidFill>
                  <a:srgbClr val="FFFFFF"/>
                </a:solidFill>
                <a:latin typeface="Arial"/>
              </a:defRPr>
            </a:pPr>
            <a:r>
              <a:t>Hardware Acceleration:</a:t>
            </a:r>
          </a:p>
          <a:p>
            <a:pPr>
              <a:defRPr sz="850">
                <a:solidFill>
                  <a:srgbClr val="E2E8F0"/>
                </a:solidFill>
                <a:latin typeface="Arial"/>
              </a:defRPr>
            </a:pPr>
            <a:r>
              <a:t>Native PyTorch Metal Performance Shaders (MPS) on Apple Silicon achieves 45–65 ms inference latency.</a:t>
            </a:r>
          </a:p>
        </p:txBody>
      </p:sp>
      <p:sp>
        <p:nvSpPr>
          <p:cNvPr id="9" name="Rounded Rectangle 8"/>
          <p:cNvSpPr/>
          <p:nvPr/>
        </p:nvSpPr>
        <p:spPr>
          <a:xfrm>
            <a:off x="6248095" y="1645920"/>
            <a:ext cx="5212080" cy="4663440"/>
          </a:xfrm>
          <a:prstGeom prst="roundRect">
            <a:avLst/>
          </a:prstGeom>
          <a:solidFill>
            <a:srgbClr val="0D1526"/>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1828800"/>
            <a:ext cx="4846320" cy="4297680"/>
          </a:xfrm>
          <a:prstGeom prst="rect">
            <a:avLst/>
          </a:prstGeom>
          <a:noFill/>
        </p:spPr>
        <p:txBody>
          <a:bodyPr wrap="square" lIns="0" rIns="0" tIns="0" bIns="0">
            <a:spAutoFit/>
          </a:bodyPr>
          <a:lstStyle/>
          <a:p>
            <a:pPr>
              <a:defRPr sz="1050" b="1">
                <a:solidFill>
                  <a:srgbClr val="A855F7"/>
                </a:solidFill>
                <a:latin typeface="Arial"/>
              </a:defRPr>
            </a:pPr>
            <a:r>
              <a:t>CONTEXTUAL UCB1 MULTI-ARMED BANDIT</a:t>
            </a:r>
          </a:p>
          <a:p>
            <a:br/>
            <a:pPr>
              <a:defRPr sz="900" b="1">
                <a:solidFill>
                  <a:srgbClr val="FFFFFF"/>
                </a:solidFill>
                <a:latin typeface="Arial"/>
              </a:defRPr>
            </a:pPr>
            <a:r>
              <a:t>Exploration vs. Exploitation:</a:t>
            </a:r>
          </a:p>
          <a:p>
            <a:pPr>
              <a:defRPr sz="850">
                <a:solidFill>
                  <a:srgbClr val="E2E8F0"/>
                </a:solidFill>
                <a:latin typeface="Arial"/>
              </a:defRPr>
            </a:pPr>
            <a:r>
              <a:t>Different claims demand different search strategies (named actors vs. semantic concepts vs. exact quotes).</a:t>
            </a:r>
          </a:p>
          <a:p>
            <a:br/>
            <a:pPr>
              <a:defRPr sz="900" b="1">
                <a:solidFill>
                  <a:srgbClr val="FFFFFF"/>
                </a:solidFill>
                <a:latin typeface="Arial"/>
              </a:defRPr>
            </a:pPr>
            <a:r>
              <a:t>Arm 0 — Entity-Centric Querying:</a:t>
            </a:r>
          </a:p>
          <a:p>
            <a:pPr>
              <a:defRPr sz="850">
                <a:solidFill>
                  <a:srgbClr val="E2E8F0"/>
                </a:solidFill>
                <a:latin typeface="Arial"/>
              </a:defRPr>
            </a:pPr>
            <a:r>
              <a:t>spaCy NER extraction focused on specific political and institutional actors.</a:t>
            </a:r>
          </a:p>
          <a:p>
            <a:br/>
            <a:pPr>
              <a:defRPr sz="900" b="1">
                <a:solidFill>
                  <a:srgbClr val="FFFFFF"/>
                </a:solidFill>
                <a:latin typeface="Arial"/>
              </a:defRPr>
            </a:pPr>
            <a:r>
              <a:t>Arm 1 — Semantic Hybrid Search:</a:t>
            </a:r>
          </a:p>
          <a:p>
            <a:pPr>
              <a:defRPr sz="850">
                <a:solidFill>
                  <a:srgbClr val="E2E8F0"/>
                </a:solidFill>
                <a:latin typeface="Arial"/>
              </a:defRPr>
            </a:pPr>
            <a:r>
              <a:t>Combines BM25 lexical keyword matching with dense embedding cosine similarity.</a:t>
            </a:r>
          </a:p>
          <a:p>
            <a:br/>
            <a:pPr>
              <a:defRPr sz="900" b="1">
                <a:solidFill>
                  <a:srgbClr val="FFFFFF"/>
                </a:solidFill>
                <a:latin typeface="Arial"/>
              </a:defRPr>
            </a:pPr>
            <a:r>
              <a:t>Arm 2 — Keyphrase N-gram Salience:</a:t>
            </a:r>
          </a:p>
          <a:p>
            <a:pPr>
              <a:defRPr sz="850">
                <a:solidFill>
                  <a:srgbClr val="E2E8F0"/>
                </a:solidFill>
                <a:latin typeface="Arial"/>
              </a:defRPr>
            </a:pPr>
            <a:r>
              <a:t>Targets highest-scoring TF-IDF n-grams (length 2–4).</a:t>
            </a:r>
          </a:p>
          <a:p>
            <a:br/>
            <a:pPr>
              <a:defRPr sz="900" b="1">
                <a:solidFill>
                  <a:srgbClr val="FFFFFF"/>
                </a:solidFill>
                <a:latin typeface="Arial"/>
              </a:defRPr>
            </a:pPr>
            <a:r>
              <a:t>Upper Confidence Bound Action Rule:</a:t>
            </a:r>
          </a:p>
          <a:p>
            <a:pPr>
              <a:defRPr sz="850">
                <a:solidFill>
                  <a:srgbClr val="E2E8F0"/>
                </a:solidFill>
                <a:latin typeface="Arial"/>
              </a:defRPr>
            </a:pPr>
            <a:r>
              <a:t>Score_i(t) = Q̄_i + c · √(2·ln(t) / N_i(t)) with c = 0.5.</a:t>
            </a:r>
          </a:p>
          <a:p>
            <a:br/>
            <a:pPr>
              <a:defRPr sz="900" b="1">
                <a:solidFill>
                  <a:srgbClr val="FFFFFF"/>
                </a:solidFill>
                <a:latin typeface="Arial"/>
              </a:defRPr>
            </a:pPr>
            <a:r>
              <a:t>Reinforcement Reward Function:</a:t>
            </a:r>
          </a:p>
          <a:p>
            <a:pPr>
              <a:defRPr sz="850">
                <a:solidFill>
                  <a:srgbClr val="E2E8F0"/>
                </a:solidFill>
                <a:latin typeface="Arial"/>
              </a:defRPr>
            </a:pPr>
            <a:r>
              <a:t>R_t = 0.5·max(P_ent, P_con) + 0.3·Authority + 0.2·Diversity.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rIns="0" tIns="0" bIns="0">
            <a:spAutoFit/>
          </a:bodyPr>
          <a:lstStyle/>
          <a:p>
            <a:pPr>
              <a:defRPr sz="950" b="1">
                <a:solidFill>
                  <a:srgbClr val="00F2FE"/>
                </a:solidFill>
                <a:latin typeface="Arial"/>
              </a:defRPr>
            </a:pPr>
            <a:r>
              <a:t>07 • ACTUAL OUTPUT SCREENSHOTS</a:t>
            </a:r>
          </a:p>
        </p:txBody>
      </p:sp>
      <p:sp>
        <p:nvSpPr>
          <p:cNvPr id="4" name="TextBox 3"/>
          <p:cNvSpPr txBox="1"/>
          <p:nvPr/>
        </p:nvSpPr>
        <p:spPr>
          <a:xfrm>
            <a:off x="731520" y="640080"/>
            <a:ext cx="10728655" cy="457200"/>
          </a:xfrm>
          <a:prstGeom prst="rect">
            <a:avLst/>
          </a:prstGeom>
          <a:noFill/>
        </p:spPr>
        <p:txBody>
          <a:bodyPr wrap="square" lIns="0" rIns="0" tIns="0" bIns="0">
            <a:spAutoFit/>
          </a:bodyPr>
          <a:lstStyle/>
          <a:p>
            <a:pPr>
              <a:defRPr sz="1900" b="1">
                <a:solidFill>
                  <a:srgbClr val="FFFFFF"/>
                </a:solidFill>
                <a:latin typeface="Arial"/>
              </a:defRPr>
            </a:pPr>
            <a:r>
              <a:t>Executive System Dashboard &amp; Telemetry</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050">
                <a:solidFill>
                  <a:srgbClr val="94A3B8"/>
                </a:solidFill>
                <a:latin typeface="Arial"/>
              </a:defRPr>
            </a:pPr>
            <a:r>
              <a:t>Real-Time Verification KPIs, Throughput Monitoring &amp; Subsystem Readiness</a:t>
            </a:r>
          </a:p>
        </p:txBody>
      </p:sp>
      <p:sp>
        <p:nvSpPr>
          <p:cNvPr id="6" name="Rectangle 5"/>
          <p:cNvSpPr/>
          <p:nvPr/>
        </p:nvSpPr>
        <p:spPr>
          <a:xfrm>
            <a:off x="731520" y="1389888"/>
            <a:ext cx="10728655" cy="18288"/>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6858000" cy="4663440"/>
          </a:xfrm>
          <a:prstGeom prst="roundRect">
            <a:avLst/>
          </a:prstGeom>
          <a:solidFill>
            <a:srgbClr val="080E19"/>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3291840"/>
            <a:ext cx="5943600" cy="1371600"/>
          </a:xfrm>
          <a:prstGeom prst="rect">
            <a:avLst/>
          </a:prstGeom>
          <a:noFill/>
        </p:spPr>
        <p:txBody>
          <a:bodyPr wrap="square">
            <a:spAutoFit/>
          </a:bodyPr>
          <a:lstStyle/>
          <a:p>
            <a:pPr algn="ctr">
              <a:defRPr sz="1300" b="1">
                <a:solidFill>
                  <a:srgbClr val="00F2FE"/>
                </a:solidFill>
                <a:latin typeface="Arial"/>
              </a:defRPr>
            </a:pPr>
            <a:r>
              <a:t>ACTUAL APPLICATION SCREENSHOT</a:t>
            </a:r>
          </a:p>
          <a:p>
            <a:pPr algn="ctr">
              <a:defRPr sz="1000">
                <a:solidFill>
                  <a:srgbClr val="FFFFFF"/>
                </a:solidFill>
                <a:latin typeface="Arial"/>
              </a:defRPr>
            </a:pPr>
            <a:r>
              <a:t>Executive Monitoring &amp; Real-Time KPI Dashboard</a:t>
            </a:r>
          </a:p>
          <a:p>
            <a:pPr algn="ctr">
              <a:defRPr sz="850" i="1">
                <a:solidFill>
                  <a:srgbClr val="94A3B8"/>
                </a:solidFill>
                <a:latin typeface="Arial"/>
              </a:defRPr>
            </a:pPr>
            <a:r>
              <a:t>[Drop Dashboard Screenshot Here / Streamlit View 1]</a:t>
            </a:r>
          </a:p>
        </p:txBody>
      </p:sp>
      <p:sp>
        <p:nvSpPr>
          <p:cNvPr id="9" name="Rounded Rectangle 8"/>
          <p:cNvSpPr/>
          <p:nvPr/>
        </p:nvSpPr>
        <p:spPr>
          <a:xfrm>
            <a:off x="7802575" y="1645920"/>
            <a:ext cx="3657600" cy="4663440"/>
          </a:xfrm>
          <a:prstGeom prst="roundRect">
            <a:avLst/>
          </a:prstGeom>
          <a:solidFill>
            <a:srgbClr val="0D15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85455" y="1828800"/>
            <a:ext cx="3291840" cy="4297680"/>
          </a:xfrm>
          <a:prstGeom prst="rect">
            <a:avLst/>
          </a:prstGeom>
          <a:noFill/>
        </p:spPr>
        <p:txBody>
          <a:bodyPr wrap="square" lIns="0" rIns="0" tIns="0" bIns="0">
            <a:spAutoFit/>
          </a:bodyPr>
          <a:lstStyle/>
          <a:p>
            <a:pPr>
              <a:defRPr sz="1050" b="1">
                <a:solidFill>
                  <a:srgbClr val="00F2FE"/>
                </a:solidFill>
                <a:latin typeface="Arial"/>
              </a:defRPr>
            </a:pPr>
            <a:r>
              <a:t>DASHBOARD CAPABILITIES</a:t>
            </a:r>
          </a:p>
          <a:p>
            <a:br/>
            <a:pPr>
              <a:defRPr sz="900" b="1">
                <a:solidFill>
                  <a:srgbClr val="FFFFFF"/>
                </a:solidFill>
                <a:latin typeface="Arial"/>
              </a:defRPr>
            </a:pPr>
            <a:r>
              <a:t>Real-Time KPI Cards:</a:t>
            </a:r>
          </a:p>
          <a:p>
            <a:pPr>
              <a:defRPr sz="800">
                <a:solidFill>
                  <a:srgbClr val="E2E8F0"/>
                </a:solidFill>
                <a:latin typeface="Arial"/>
              </a:defRPr>
            </a:pPr>
            <a:r>
              <a:t>Instant visualization of total dispatches audited, likely fake count, and mean model confidence across editorial sessions.</a:t>
            </a:r>
          </a:p>
          <a:p>
            <a:br/>
            <a:pPr>
              <a:defRPr sz="900" b="1">
                <a:solidFill>
                  <a:srgbClr val="FFFFFF"/>
                </a:solidFill>
                <a:latin typeface="Arial"/>
              </a:defRPr>
            </a:pPr>
            <a:r>
              <a:t>Verification Activity Velocity:</a:t>
            </a:r>
          </a:p>
          <a:p>
            <a:pPr>
              <a:defRPr sz="800">
                <a:solidFill>
                  <a:srgbClr val="E2E8F0"/>
                </a:solidFill>
                <a:latin typeface="Arial"/>
              </a:defRPr>
            </a:pPr>
            <a:r>
              <a:t>Interactive time-series charts displaying verification request throughput and prediction class distribution.</a:t>
            </a:r>
          </a:p>
          <a:p>
            <a:br/>
            <a:pPr>
              <a:defRPr sz="900" b="1">
                <a:solidFill>
                  <a:srgbClr val="FFFFFF"/>
                </a:solidFill>
                <a:latin typeface="Arial"/>
              </a:defRPr>
            </a:pPr>
            <a:r>
              <a:t>Subsystem Health Badges:</a:t>
            </a:r>
          </a:p>
          <a:p>
            <a:pPr>
              <a:defRPr sz="800">
                <a:solidFill>
                  <a:srgbClr val="E2E8F0"/>
                </a:solidFill>
                <a:latin typeface="Arial"/>
              </a:defRPr>
            </a:pPr>
            <a:r>
              <a:t>Live status indicators verifying that the Scikit-learn models, Tesseract OCR engine, and SQLite audit DB are operational.</a:t>
            </a:r>
          </a:p>
          <a:p>
            <a:br/>
            <a:pPr>
              <a:defRPr sz="900" b="1">
                <a:solidFill>
                  <a:srgbClr val="FFFFFF"/>
                </a:solidFill>
                <a:latin typeface="Arial"/>
              </a:defRPr>
            </a:pPr>
            <a:r>
              <a:t>Active Model Diagnostic:</a:t>
            </a:r>
          </a:p>
          <a:p>
            <a:pPr>
              <a:defRPr sz="800">
                <a:solidFill>
                  <a:srgbClr val="E2E8F0"/>
                </a:solidFill>
                <a:latin typeface="Arial"/>
              </a:defRPr>
            </a:pPr>
            <a:r>
              <a:t>Indicates active model architecture (Linear SVM ★ vs. Logistic Regression vs. Naive Bayes).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rIns="0" tIns="0" bIns="0">
            <a:spAutoFit/>
          </a:bodyPr>
          <a:lstStyle/>
          <a:p>
            <a:pPr>
              <a:defRPr sz="950" b="1">
                <a:solidFill>
                  <a:srgbClr val="00F2FE"/>
                </a:solidFill>
                <a:latin typeface="Arial"/>
              </a:defRPr>
            </a:pPr>
            <a:r>
              <a:t>07 • ACTUAL OUTPUT SCREENSHOTS</a:t>
            </a:r>
          </a:p>
        </p:txBody>
      </p:sp>
      <p:sp>
        <p:nvSpPr>
          <p:cNvPr id="4" name="TextBox 3"/>
          <p:cNvSpPr txBox="1"/>
          <p:nvPr/>
        </p:nvSpPr>
        <p:spPr>
          <a:xfrm>
            <a:off x="731520" y="640080"/>
            <a:ext cx="10728655" cy="457200"/>
          </a:xfrm>
          <a:prstGeom prst="rect">
            <a:avLst/>
          </a:prstGeom>
          <a:noFill/>
        </p:spPr>
        <p:txBody>
          <a:bodyPr wrap="square" lIns="0" rIns="0" tIns="0" bIns="0">
            <a:spAutoFit/>
          </a:bodyPr>
          <a:lstStyle/>
          <a:p>
            <a:pPr>
              <a:defRPr sz="1900" b="1">
                <a:solidFill>
                  <a:srgbClr val="FFFFFF"/>
                </a:solidFill>
                <a:latin typeface="Arial"/>
              </a:defRPr>
            </a:pPr>
            <a:r>
              <a:t>News Analyzer &amp; Calibrated Prediction Interface</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050">
                <a:solidFill>
                  <a:srgbClr val="94A3B8"/>
                </a:solidFill>
                <a:latin typeface="Arial"/>
              </a:defRPr>
            </a:pPr>
            <a:r>
              <a:t>Interactive Text Triage, Real-Time Wire Sanitization Alerts &amp; Calibrated Probabilities</a:t>
            </a:r>
          </a:p>
        </p:txBody>
      </p:sp>
      <p:sp>
        <p:nvSpPr>
          <p:cNvPr id="6" name="Rectangle 5"/>
          <p:cNvSpPr/>
          <p:nvPr/>
        </p:nvSpPr>
        <p:spPr>
          <a:xfrm>
            <a:off x="731520" y="1389888"/>
            <a:ext cx="10728655" cy="18288"/>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6858000" cy="4663440"/>
          </a:xfrm>
          <a:prstGeom prst="roundRect">
            <a:avLst/>
          </a:prstGeom>
          <a:solidFill>
            <a:srgbClr val="080E19"/>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3291840"/>
            <a:ext cx="5943600" cy="1371600"/>
          </a:xfrm>
          <a:prstGeom prst="rect">
            <a:avLst/>
          </a:prstGeom>
          <a:noFill/>
        </p:spPr>
        <p:txBody>
          <a:bodyPr wrap="square">
            <a:spAutoFit/>
          </a:bodyPr>
          <a:lstStyle/>
          <a:p>
            <a:pPr algn="ctr">
              <a:defRPr sz="1300" b="1">
                <a:solidFill>
                  <a:srgbClr val="00F2FE"/>
                </a:solidFill>
                <a:latin typeface="Arial"/>
              </a:defRPr>
            </a:pPr>
            <a:r>
              <a:t>ACTUAL APPLICATION SCREENSHOT</a:t>
            </a:r>
          </a:p>
          <a:p>
            <a:pPr algn="ctr">
              <a:defRPr sz="1000">
                <a:solidFill>
                  <a:srgbClr val="FFFFFF"/>
                </a:solidFill>
                <a:latin typeface="Arial"/>
              </a:defRPr>
            </a:pPr>
            <a:r>
              <a:t>News Analyzer Workspace &amp; Prediction Results</a:t>
            </a:r>
          </a:p>
          <a:p>
            <a:pPr algn="ctr">
              <a:defRPr sz="850" i="1">
                <a:solidFill>
                  <a:srgbClr val="94A3B8"/>
                </a:solidFill>
                <a:latin typeface="Arial"/>
              </a:defRPr>
            </a:pPr>
            <a:r>
              <a:t>[Drop News Analyzer Screenshot Here / Streamlit View 2]</a:t>
            </a:r>
          </a:p>
        </p:txBody>
      </p:sp>
      <p:sp>
        <p:nvSpPr>
          <p:cNvPr id="9" name="Rounded Rectangle 8"/>
          <p:cNvSpPr/>
          <p:nvPr/>
        </p:nvSpPr>
        <p:spPr>
          <a:xfrm>
            <a:off x="7802575" y="1645920"/>
            <a:ext cx="3657600" cy="4663440"/>
          </a:xfrm>
          <a:prstGeom prst="roundRect">
            <a:avLst/>
          </a:prstGeom>
          <a:solidFill>
            <a:srgbClr val="0D15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85455" y="1828800"/>
            <a:ext cx="3291840" cy="4297680"/>
          </a:xfrm>
          <a:prstGeom prst="rect">
            <a:avLst/>
          </a:prstGeom>
          <a:noFill/>
        </p:spPr>
        <p:txBody>
          <a:bodyPr wrap="square" lIns="0" rIns="0" tIns="0" bIns="0">
            <a:spAutoFit/>
          </a:bodyPr>
          <a:lstStyle/>
          <a:p>
            <a:pPr>
              <a:defRPr sz="1050" b="1">
                <a:solidFill>
                  <a:srgbClr val="00F2FE"/>
                </a:solidFill>
                <a:latin typeface="Arial"/>
              </a:defRPr>
            </a:pPr>
            <a:r>
              <a:t>ANALYZER CAPABILITIES</a:t>
            </a:r>
          </a:p>
          <a:p>
            <a:br/>
            <a:pPr>
              <a:defRPr sz="900" b="1">
                <a:solidFill>
                  <a:srgbClr val="FFFFFF"/>
                </a:solidFill>
                <a:latin typeface="Arial"/>
              </a:defRPr>
            </a:pPr>
            <a:r>
              <a:t>Dual Ingestion Text Area:</a:t>
            </a:r>
          </a:p>
          <a:p>
            <a:pPr>
              <a:defRPr sz="800">
                <a:solidFill>
                  <a:srgbClr val="E2E8F0"/>
                </a:solidFill>
                <a:latin typeface="Arial"/>
              </a:defRPr>
            </a:pPr>
            <a:r>
              <a:t>Separate input fields for Article Headline and Article Body with real-time character counters and pre-loaded sample news buttons.</a:t>
            </a:r>
          </a:p>
          <a:p>
            <a:br/>
            <a:pPr>
              <a:defRPr sz="900" b="1">
                <a:solidFill>
                  <a:srgbClr val="FFFFFF"/>
                </a:solidFill>
                <a:latin typeface="Arial"/>
              </a:defRPr>
            </a:pPr>
            <a:r>
              <a:t>Wire-Tag Sanitizer Notification:</a:t>
            </a:r>
          </a:p>
          <a:p>
            <a:pPr>
              <a:defRPr sz="800">
                <a:solidFill>
                  <a:srgbClr val="E2E8F0"/>
                </a:solidFill>
                <a:latin typeface="Arial"/>
              </a:defRPr>
            </a:pPr>
            <a:r>
              <a:t>Displays real-time alert when wire service datelines (e.g. 'Reuters', 'AP') are detected and stripped to prevent shortcut bias.</a:t>
            </a:r>
          </a:p>
          <a:p>
            <a:br/>
            <a:pPr>
              <a:defRPr sz="900" b="1">
                <a:solidFill>
                  <a:srgbClr val="FFFFFF"/>
                </a:solidFill>
                <a:latin typeface="Arial"/>
              </a:defRPr>
            </a:pPr>
            <a:r>
              <a:t>Calibrated Probability Gauge:</a:t>
            </a:r>
          </a:p>
          <a:p>
            <a:pPr>
              <a:defRPr sz="800">
                <a:solidFill>
                  <a:srgbClr val="E2E8F0"/>
                </a:solidFill>
                <a:latin typeface="Arial"/>
              </a:defRPr>
            </a:pPr>
            <a:r>
              <a:t>Outputs clear 'Likely Real' or 'Likely Fake' badge with Platt-calibrated confidence score percentage.</a:t>
            </a:r>
          </a:p>
          <a:p>
            <a:br/>
            <a:pPr>
              <a:defRPr sz="900" b="1">
                <a:solidFill>
                  <a:srgbClr val="FFFFFF"/>
                </a:solidFill>
                <a:latin typeface="Arial"/>
              </a:defRPr>
            </a:pPr>
            <a:r>
              <a:t>Epistemic Modesty Warning:</a:t>
            </a:r>
          </a:p>
          <a:p>
            <a:pPr>
              <a:defRPr sz="800">
                <a:solidFill>
                  <a:srgbClr val="E2E8F0"/>
                </a:solidFill>
                <a:latin typeface="Arial"/>
              </a:defRPr>
            </a:pPr>
            <a:r>
              <a:t>Prominently displays disclaimer that classification reflects linguistic stylometry rather than verified ontology.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rIns="0" tIns="0" bIns="0">
            <a:spAutoFit/>
          </a:bodyPr>
          <a:lstStyle/>
          <a:p>
            <a:pPr>
              <a:defRPr sz="950" b="1">
                <a:solidFill>
                  <a:srgbClr val="00F2FE"/>
                </a:solidFill>
                <a:latin typeface="Arial"/>
              </a:defRPr>
            </a:pPr>
            <a:r>
              <a:t>07 • ACTUAL OUTPUT SCREENSHOTS</a:t>
            </a:r>
          </a:p>
        </p:txBody>
      </p:sp>
      <p:sp>
        <p:nvSpPr>
          <p:cNvPr id="4" name="TextBox 3"/>
          <p:cNvSpPr txBox="1"/>
          <p:nvPr/>
        </p:nvSpPr>
        <p:spPr>
          <a:xfrm>
            <a:off x="731520" y="640080"/>
            <a:ext cx="10728655" cy="457200"/>
          </a:xfrm>
          <a:prstGeom prst="rect">
            <a:avLst/>
          </a:prstGeom>
          <a:noFill/>
        </p:spPr>
        <p:txBody>
          <a:bodyPr wrap="square" lIns="0" rIns="0" tIns="0" bIns="0">
            <a:spAutoFit/>
          </a:bodyPr>
          <a:lstStyle/>
          <a:p>
            <a:pPr>
              <a:defRPr sz="1900" b="1">
                <a:solidFill>
                  <a:srgbClr val="FFFFFF"/>
                </a:solidFill>
                <a:latin typeface="Arial"/>
              </a:defRPr>
            </a:pPr>
            <a:r>
              <a:t>Multimodal OCR &amp; Dual Explainability Visualizer</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050">
                <a:solidFill>
                  <a:srgbClr val="94A3B8"/>
                </a:solidFill>
                <a:latin typeface="Arial"/>
              </a:defRPr>
            </a:pPr>
            <a:r>
              <a:t>Tesseract Vision Ingestion, LIME vs. SHAP Attributions &amp; NLI Evidence Corroboration</a:t>
            </a:r>
          </a:p>
        </p:txBody>
      </p:sp>
      <p:sp>
        <p:nvSpPr>
          <p:cNvPr id="6" name="Rectangle 5"/>
          <p:cNvSpPr/>
          <p:nvPr/>
        </p:nvSpPr>
        <p:spPr>
          <a:xfrm>
            <a:off x="731520" y="1389888"/>
            <a:ext cx="10728655" cy="18288"/>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6858000" cy="4663440"/>
          </a:xfrm>
          <a:prstGeom prst="roundRect">
            <a:avLst/>
          </a:prstGeom>
          <a:solidFill>
            <a:srgbClr val="080E19"/>
          </a:solidFill>
          <a:ln w="1905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3291840"/>
            <a:ext cx="5943600" cy="1371600"/>
          </a:xfrm>
          <a:prstGeom prst="rect">
            <a:avLst/>
          </a:prstGeom>
          <a:noFill/>
        </p:spPr>
        <p:txBody>
          <a:bodyPr wrap="square">
            <a:spAutoFit/>
          </a:bodyPr>
          <a:lstStyle/>
          <a:p>
            <a:pPr algn="ctr">
              <a:defRPr sz="1300" b="1">
                <a:solidFill>
                  <a:srgbClr val="A855F7"/>
                </a:solidFill>
                <a:latin typeface="Arial"/>
              </a:defRPr>
            </a:pPr>
            <a:r>
              <a:t>ACTUAL APPLICATION SCREENSHOT</a:t>
            </a:r>
          </a:p>
          <a:p>
            <a:pPr algn="ctr">
              <a:defRPr sz="1000">
                <a:solidFill>
                  <a:srgbClr val="FFFFFF"/>
                </a:solidFill>
                <a:latin typeface="Arial"/>
              </a:defRPr>
            </a:pPr>
            <a:r>
              <a:t>OCR Ingestion &amp; Dual XAI Feature Attribution Lab</a:t>
            </a:r>
          </a:p>
          <a:p>
            <a:pPr algn="ctr">
              <a:defRPr sz="850" i="1">
                <a:solidFill>
                  <a:srgbClr val="94A3B8"/>
                </a:solidFill>
                <a:latin typeface="Arial"/>
              </a:defRPr>
            </a:pPr>
            <a:r>
              <a:t>[Drop OCR / Dual XAI Screenshot Here / Streamlit View 3]</a:t>
            </a:r>
          </a:p>
        </p:txBody>
      </p:sp>
      <p:sp>
        <p:nvSpPr>
          <p:cNvPr id="9" name="Rounded Rectangle 8"/>
          <p:cNvSpPr/>
          <p:nvPr/>
        </p:nvSpPr>
        <p:spPr>
          <a:xfrm>
            <a:off x="7802575" y="1645920"/>
            <a:ext cx="3657600" cy="4663440"/>
          </a:xfrm>
          <a:prstGeom prst="roundRect">
            <a:avLst/>
          </a:prstGeom>
          <a:solidFill>
            <a:srgbClr val="0D15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85455" y="1828800"/>
            <a:ext cx="3291840" cy="4297680"/>
          </a:xfrm>
          <a:prstGeom prst="rect">
            <a:avLst/>
          </a:prstGeom>
          <a:noFill/>
        </p:spPr>
        <p:txBody>
          <a:bodyPr wrap="square" lIns="0" rIns="0" tIns="0" bIns="0">
            <a:spAutoFit/>
          </a:bodyPr>
          <a:lstStyle/>
          <a:p>
            <a:pPr>
              <a:defRPr sz="1050" b="1">
                <a:solidFill>
                  <a:srgbClr val="A855F7"/>
                </a:solidFill>
                <a:latin typeface="Arial"/>
              </a:defRPr>
            </a:pPr>
            <a:r>
              <a:t>OCR &amp; XAI CAPABILITIES</a:t>
            </a:r>
          </a:p>
          <a:p>
            <a:br/>
            <a:pPr>
              <a:defRPr sz="900" b="1">
                <a:solidFill>
                  <a:srgbClr val="FFFFFF"/>
                </a:solidFill>
                <a:latin typeface="Arial"/>
              </a:defRPr>
            </a:pPr>
            <a:r>
              <a:t>Tesseract OCR Processing:</a:t>
            </a:r>
          </a:p>
          <a:p>
            <a:pPr>
              <a:defRPr sz="800">
                <a:solidFill>
                  <a:srgbClr val="E2E8F0"/>
                </a:solidFill>
                <a:latin typeface="Arial"/>
              </a:defRPr>
            </a:pPr>
            <a:r>
              <a:t>Drag-and-drop ingestion of PNG, JPG, and WEBP news screenshots with automatic orientation correction and thresholding.</a:t>
            </a:r>
          </a:p>
          <a:p>
            <a:br/>
            <a:pPr>
              <a:defRPr sz="900" b="1">
                <a:solidFill>
                  <a:srgbClr val="FFFFFF"/>
                </a:solidFill>
                <a:latin typeface="Arial"/>
              </a:defRPr>
            </a:pPr>
            <a:r>
              <a:t>LIME Token Contributions:</a:t>
            </a:r>
          </a:p>
          <a:p>
            <a:pPr>
              <a:defRPr sz="800">
                <a:solidFill>
                  <a:srgbClr val="E2E8F0"/>
                </a:solidFill>
                <a:latin typeface="Arial"/>
              </a:defRPr>
            </a:pPr>
            <a:r>
              <a:t>Interactive horizontal bar chart highlighting words driving the classification toward 'Fake' (red) or 'Real' (green).</a:t>
            </a:r>
          </a:p>
          <a:p>
            <a:br/>
            <a:pPr>
              <a:defRPr sz="900" b="1">
                <a:solidFill>
                  <a:srgbClr val="FFFFFF"/>
                </a:solidFill>
                <a:latin typeface="Arial"/>
              </a:defRPr>
            </a:pPr>
            <a:r>
              <a:t>SHAP Log-Odds Force Plot:</a:t>
            </a:r>
          </a:p>
          <a:p>
            <a:pPr>
              <a:defRPr sz="800">
                <a:solidFill>
                  <a:srgbClr val="E2E8F0"/>
                </a:solidFill>
                <a:latin typeface="Arial"/>
              </a:defRPr>
            </a:pPr>
            <a:r>
              <a:t>Displays exact closed-form linear Shapley attributions showing additive shifts relative to the expected base value.</a:t>
            </a:r>
          </a:p>
          <a:p>
            <a:br/>
            <a:pPr>
              <a:defRPr sz="900" b="1">
                <a:solidFill>
                  <a:srgbClr val="FFFFFF"/>
                </a:solidFill>
                <a:latin typeface="Arial"/>
              </a:defRPr>
            </a:pPr>
            <a:r>
              <a:t>NLI Evidence Corroboration:</a:t>
            </a:r>
          </a:p>
          <a:p>
            <a:pPr>
              <a:defRPr sz="800">
                <a:solidFill>
                  <a:srgbClr val="E2E8F0"/>
                </a:solidFill>
                <a:latin typeface="Arial"/>
              </a:defRPr>
            </a:pPr>
            <a:r>
              <a:t>Shows premise-hypothesis entailment vs. contradiction probabilities against external knowledge corpora.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rIns="0" tIns="0" bIns="0">
            <a:spAutoFit/>
          </a:bodyPr>
          <a:lstStyle/>
          <a:p>
            <a:pPr>
              <a:defRPr sz="950" b="1">
                <a:solidFill>
                  <a:srgbClr val="00F2FE"/>
                </a:solidFill>
                <a:latin typeface="Arial"/>
              </a:defRPr>
            </a:pPr>
            <a:r>
              <a:t>07 • RESULTS &amp; EVALUATION</a:t>
            </a:r>
          </a:p>
        </p:txBody>
      </p:sp>
      <p:sp>
        <p:nvSpPr>
          <p:cNvPr id="4" name="TextBox 3"/>
          <p:cNvSpPr txBox="1"/>
          <p:nvPr/>
        </p:nvSpPr>
        <p:spPr>
          <a:xfrm>
            <a:off x="731520" y="640080"/>
            <a:ext cx="10728655" cy="457200"/>
          </a:xfrm>
          <a:prstGeom prst="rect">
            <a:avLst/>
          </a:prstGeom>
          <a:noFill/>
        </p:spPr>
        <p:txBody>
          <a:bodyPr wrap="square" lIns="0" rIns="0" tIns="0" bIns="0">
            <a:spAutoFit/>
          </a:bodyPr>
          <a:lstStyle/>
          <a:p>
            <a:pPr>
              <a:defRPr sz="1900" b="1">
                <a:solidFill>
                  <a:srgbClr val="FFFFFF"/>
                </a:solidFill>
                <a:latin typeface="Arial"/>
              </a:defRPr>
            </a:pPr>
            <a:r>
              <a:t>Empirical Evaluation &amp; Verified Benchmark Metrics</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050">
                <a:solidFill>
                  <a:srgbClr val="94A3B8"/>
                </a:solidFill>
                <a:latin typeface="Arial"/>
              </a:defRPr>
            </a:pPr>
            <a:r>
              <a:t>Rigorous Performance Verification on the External ISOT Held-Out Test Set (N = 6,685)</a:t>
            </a:r>
          </a:p>
        </p:txBody>
      </p:sp>
      <p:sp>
        <p:nvSpPr>
          <p:cNvPr id="6" name="Rectangle 5"/>
          <p:cNvSpPr/>
          <p:nvPr/>
        </p:nvSpPr>
        <p:spPr>
          <a:xfrm>
            <a:off x="731520" y="1389888"/>
            <a:ext cx="10728655" cy="18288"/>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731520" y="1645920"/>
          <a:ext cx="10728655" cy="1828800"/>
        </p:xfrm>
        <a:graphic>
          <a:graphicData uri="http://schemas.openxmlformats.org/drawingml/2006/table">
            <a:tbl>
              <a:tblPr firstRow="1" bandRow="1">
                <a:tableStyleId>{5C22544A-7EE6-4342-B048-85BDC9FD1C3A}</a:tableStyleId>
              </a:tblPr>
              <a:tblGrid>
                <a:gridCol w="2560320"/>
                <a:gridCol w="1097280"/>
                <a:gridCol w="1097280"/>
                <a:gridCol w="1188720"/>
                <a:gridCol w="1188720"/>
                <a:gridCol w="1097280"/>
                <a:gridCol w="1097280"/>
                <a:gridCol w="1401775"/>
              </a:tblGrid>
              <a:tr h="457200">
                <a:tc>
                  <a:txBody>
                    <a:bodyPr/>
                    <a:lstStyle/>
                    <a:p>
                      <a:pPr algn="ctr">
                        <a:defRPr sz="900" b="1">
                          <a:solidFill>
                            <a:srgbClr val="00F2FE"/>
                          </a:solidFill>
                          <a:latin typeface="Arial"/>
                        </a:defRPr>
                      </a:pPr>
                      <a:r>
                        <a:t>Model Architecture</a:t>
                      </a:r>
                    </a:p>
                  </a:txBody>
                  <a:tcPr anchor="ctr">
                    <a:solidFill>
                      <a:srgbClr val="111C33"/>
                    </a:solidFill>
                  </a:tcPr>
                </a:tc>
                <a:tc>
                  <a:txBody>
                    <a:bodyPr/>
                    <a:lstStyle/>
                    <a:p>
                      <a:pPr algn="ctr">
                        <a:defRPr sz="900" b="1">
                          <a:solidFill>
                            <a:srgbClr val="00F2FE"/>
                          </a:solidFill>
                          <a:latin typeface="Arial"/>
                        </a:defRPr>
                      </a:pPr>
                      <a:r>
                        <a:t>Test Accuracy</a:t>
                      </a:r>
                    </a:p>
                  </a:txBody>
                  <a:tcPr anchor="ctr">
                    <a:solidFill>
                      <a:srgbClr val="111C33"/>
                    </a:solidFill>
                  </a:tcPr>
                </a:tc>
                <a:tc>
                  <a:txBody>
                    <a:bodyPr/>
                    <a:lstStyle/>
                    <a:p>
                      <a:pPr algn="ctr">
                        <a:defRPr sz="900" b="1">
                          <a:solidFill>
                            <a:srgbClr val="00F2FE"/>
                          </a:solidFill>
                          <a:latin typeface="Arial"/>
                        </a:defRPr>
                      </a:pPr>
                      <a:r>
                        <a:t>Macro F1</a:t>
                      </a:r>
                    </a:p>
                  </a:txBody>
                  <a:tcPr anchor="ctr">
                    <a:solidFill>
                      <a:srgbClr val="111C33"/>
                    </a:solidFill>
                  </a:tcPr>
                </a:tc>
                <a:tc>
                  <a:txBody>
                    <a:bodyPr/>
                    <a:lstStyle/>
                    <a:p>
                      <a:pPr algn="ctr">
                        <a:defRPr sz="900" b="1">
                          <a:solidFill>
                            <a:srgbClr val="00F2FE"/>
                          </a:solidFill>
                          <a:latin typeface="Arial"/>
                        </a:defRPr>
                      </a:pPr>
                      <a:r>
                        <a:t>Macro Precision</a:t>
                      </a:r>
                    </a:p>
                  </a:txBody>
                  <a:tcPr anchor="ctr">
                    <a:solidFill>
                      <a:srgbClr val="111C33"/>
                    </a:solidFill>
                  </a:tcPr>
                </a:tc>
                <a:tc>
                  <a:txBody>
                    <a:bodyPr/>
                    <a:lstStyle/>
                    <a:p>
                      <a:pPr algn="ctr">
                        <a:defRPr sz="900" b="1">
                          <a:solidFill>
                            <a:srgbClr val="00F2FE"/>
                          </a:solidFill>
                          <a:latin typeface="Arial"/>
                        </a:defRPr>
                      </a:pPr>
                      <a:r>
                        <a:t>Macro Recall</a:t>
                      </a:r>
                    </a:p>
                  </a:txBody>
                  <a:tcPr anchor="ctr">
                    <a:solidFill>
                      <a:srgbClr val="111C33"/>
                    </a:solidFill>
                  </a:tcPr>
                </a:tc>
                <a:tc>
                  <a:txBody>
                    <a:bodyPr/>
                    <a:lstStyle/>
                    <a:p>
                      <a:pPr algn="ctr">
                        <a:defRPr sz="900" b="1">
                          <a:solidFill>
                            <a:srgbClr val="00F2FE"/>
                          </a:solidFill>
                          <a:latin typeface="Arial"/>
                        </a:defRPr>
                      </a:pPr>
                      <a:r>
                        <a:t>Correct</a:t>
                      </a:r>
                    </a:p>
                  </a:txBody>
                  <a:tcPr anchor="ctr">
                    <a:solidFill>
                      <a:srgbClr val="111C33"/>
                    </a:solidFill>
                  </a:tcPr>
                </a:tc>
                <a:tc>
                  <a:txBody>
                    <a:bodyPr/>
                    <a:lstStyle/>
                    <a:p>
                      <a:pPr algn="ctr">
                        <a:defRPr sz="900" b="1">
                          <a:solidFill>
                            <a:srgbClr val="00F2FE"/>
                          </a:solidFill>
                          <a:latin typeface="Arial"/>
                        </a:defRPr>
                      </a:pPr>
                      <a:r>
                        <a:t>Errors</a:t>
                      </a:r>
                    </a:p>
                  </a:txBody>
                  <a:tcPr anchor="ctr">
                    <a:solidFill>
                      <a:srgbClr val="111C33"/>
                    </a:solidFill>
                  </a:tcPr>
                </a:tc>
                <a:tc>
                  <a:txBody>
                    <a:bodyPr/>
                    <a:lstStyle/>
                    <a:p>
                      <a:pPr algn="ctr">
                        <a:defRPr sz="900" b="1">
                          <a:solidFill>
                            <a:srgbClr val="00F2FE"/>
                          </a:solidFill>
                          <a:latin typeface="Arial"/>
                        </a:defRPr>
                      </a:pPr>
                      <a:r>
                        <a:t>Val F1</a:t>
                      </a:r>
                    </a:p>
                  </a:txBody>
                  <a:tcPr anchor="ctr">
                    <a:solidFill>
                      <a:srgbClr val="111C33"/>
                    </a:solidFill>
                  </a:tcPr>
                </a:tc>
              </a:tr>
              <a:tr h="457200">
                <a:tc>
                  <a:txBody>
                    <a:bodyPr/>
                    <a:lstStyle/>
                    <a:p>
                      <a:pPr algn="l">
                        <a:defRPr sz="850">
                          <a:solidFill>
                            <a:srgbClr val="FFFFFF"/>
                          </a:solidFill>
                          <a:latin typeface="Arial"/>
                        </a:defRPr>
                      </a:pPr>
                      <a:r>
                        <a:t>Linear SVM (Calibrated) ★</a:t>
                      </a:r>
                    </a:p>
                  </a:txBody>
                  <a:tcPr anchor="ctr">
                    <a:solidFill>
                      <a:srgbClr val="0D1526"/>
                    </a:solidFill>
                  </a:tcPr>
                </a:tc>
                <a:tc>
                  <a:txBody>
                    <a:bodyPr/>
                    <a:lstStyle/>
                    <a:p>
                      <a:pPr algn="ctr">
                        <a:defRPr sz="850">
                          <a:solidFill>
                            <a:srgbClr val="E2E8F0"/>
                          </a:solidFill>
                          <a:latin typeface="Arial"/>
                        </a:defRPr>
                      </a:pPr>
                      <a:r>
                        <a:t>98.31%</a:t>
                      </a:r>
                    </a:p>
                  </a:txBody>
                  <a:tcPr anchor="ctr">
                    <a:solidFill>
                      <a:srgbClr val="0D1526"/>
                    </a:solidFill>
                  </a:tcPr>
                </a:tc>
                <a:tc>
                  <a:txBody>
                    <a:bodyPr/>
                    <a:lstStyle/>
                    <a:p>
                      <a:pPr algn="ctr">
                        <a:defRPr sz="850">
                          <a:solidFill>
                            <a:srgbClr val="E2E8F0"/>
                          </a:solidFill>
                          <a:latin typeface="Arial"/>
                        </a:defRPr>
                      </a:pPr>
                      <a:r>
                        <a:t>0.9831</a:t>
                      </a:r>
                    </a:p>
                  </a:txBody>
                  <a:tcPr anchor="ctr">
                    <a:solidFill>
                      <a:srgbClr val="0D1526"/>
                    </a:solidFill>
                  </a:tcPr>
                </a:tc>
                <a:tc>
                  <a:txBody>
                    <a:bodyPr/>
                    <a:lstStyle/>
                    <a:p>
                      <a:pPr algn="ctr">
                        <a:defRPr sz="850">
                          <a:solidFill>
                            <a:srgbClr val="E2E8F0"/>
                          </a:solidFill>
                          <a:latin typeface="Arial"/>
                        </a:defRPr>
                      </a:pPr>
                      <a:r>
                        <a:t>0.9829</a:t>
                      </a:r>
                    </a:p>
                  </a:txBody>
                  <a:tcPr anchor="ctr">
                    <a:solidFill>
                      <a:srgbClr val="0D1526"/>
                    </a:solidFill>
                  </a:tcPr>
                </a:tc>
                <a:tc>
                  <a:txBody>
                    <a:bodyPr/>
                    <a:lstStyle/>
                    <a:p>
                      <a:pPr algn="ctr">
                        <a:defRPr sz="850">
                          <a:solidFill>
                            <a:srgbClr val="E2E8F0"/>
                          </a:solidFill>
                          <a:latin typeface="Arial"/>
                        </a:defRPr>
                      </a:pPr>
                      <a:r>
                        <a:t>0.9835</a:t>
                      </a:r>
                    </a:p>
                  </a:txBody>
                  <a:tcPr anchor="ctr">
                    <a:solidFill>
                      <a:srgbClr val="0D1526"/>
                    </a:solidFill>
                  </a:tcPr>
                </a:tc>
                <a:tc>
                  <a:txBody>
                    <a:bodyPr/>
                    <a:lstStyle/>
                    <a:p>
                      <a:pPr algn="ctr">
                        <a:defRPr sz="850">
                          <a:solidFill>
                            <a:srgbClr val="E2E8F0"/>
                          </a:solidFill>
                          <a:latin typeface="Arial"/>
                        </a:defRPr>
                      </a:pPr>
                      <a:r>
                        <a:t>6,572</a:t>
                      </a:r>
                    </a:p>
                  </a:txBody>
                  <a:tcPr anchor="ctr">
                    <a:solidFill>
                      <a:srgbClr val="0D1526"/>
                    </a:solidFill>
                  </a:tcPr>
                </a:tc>
                <a:tc>
                  <a:txBody>
                    <a:bodyPr/>
                    <a:lstStyle/>
                    <a:p>
                      <a:pPr algn="ctr">
                        <a:defRPr sz="850">
                          <a:solidFill>
                            <a:srgbClr val="E2E8F0"/>
                          </a:solidFill>
                          <a:latin typeface="Arial"/>
                        </a:defRPr>
                      </a:pPr>
                      <a:r>
                        <a:t>113</a:t>
                      </a:r>
                    </a:p>
                  </a:txBody>
                  <a:tcPr anchor="ctr">
                    <a:solidFill>
                      <a:srgbClr val="0D1526"/>
                    </a:solidFill>
                  </a:tcPr>
                </a:tc>
                <a:tc>
                  <a:txBody>
                    <a:bodyPr/>
                    <a:lstStyle/>
                    <a:p>
                      <a:pPr algn="ctr">
                        <a:defRPr sz="850">
                          <a:solidFill>
                            <a:srgbClr val="E2E8F0"/>
                          </a:solidFill>
                          <a:latin typeface="Arial"/>
                        </a:defRPr>
                      </a:pPr>
                      <a:r>
                        <a:t>0.9855</a:t>
                      </a:r>
                    </a:p>
                  </a:txBody>
                  <a:tcPr anchor="ctr">
                    <a:solidFill>
                      <a:srgbClr val="0D1526"/>
                    </a:solidFill>
                  </a:tcPr>
                </a:tc>
              </a:tr>
              <a:tr h="457200">
                <a:tc>
                  <a:txBody>
                    <a:bodyPr/>
                    <a:lstStyle/>
                    <a:p>
                      <a:pPr algn="l">
                        <a:defRPr sz="850">
                          <a:solidFill>
                            <a:srgbClr val="FFFFFF"/>
                          </a:solidFill>
                          <a:latin typeface="Arial"/>
                        </a:defRPr>
                      </a:pPr>
                      <a:r>
                        <a:t>Logistic Regression</a:t>
                      </a:r>
                    </a:p>
                  </a:txBody>
                  <a:tcPr anchor="ctr">
                    <a:solidFill>
                      <a:srgbClr val="0A111F"/>
                    </a:solidFill>
                  </a:tcPr>
                </a:tc>
                <a:tc>
                  <a:txBody>
                    <a:bodyPr/>
                    <a:lstStyle/>
                    <a:p>
                      <a:pPr algn="ctr">
                        <a:defRPr sz="850">
                          <a:solidFill>
                            <a:srgbClr val="E2E8F0"/>
                          </a:solidFill>
                          <a:latin typeface="Arial"/>
                        </a:defRPr>
                      </a:pPr>
                      <a:r>
                        <a:t>98.37%</a:t>
                      </a:r>
                    </a:p>
                  </a:txBody>
                  <a:tcPr anchor="ctr">
                    <a:solidFill>
                      <a:srgbClr val="0A111F"/>
                    </a:solidFill>
                  </a:tcPr>
                </a:tc>
                <a:tc>
                  <a:txBody>
                    <a:bodyPr/>
                    <a:lstStyle/>
                    <a:p>
                      <a:pPr algn="ctr">
                        <a:defRPr sz="850">
                          <a:solidFill>
                            <a:srgbClr val="E2E8F0"/>
                          </a:solidFill>
                          <a:latin typeface="Arial"/>
                        </a:defRPr>
                      </a:pPr>
                      <a:r>
                        <a:t>0.9837</a:t>
                      </a:r>
                    </a:p>
                  </a:txBody>
                  <a:tcPr anchor="ctr">
                    <a:solidFill>
                      <a:srgbClr val="0A111F"/>
                    </a:solidFill>
                  </a:tcPr>
                </a:tc>
                <a:tc>
                  <a:txBody>
                    <a:bodyPr/>
                    <a:lstStyle/>
                    <a:p>
                      <a:pPr algn="ctr">
                        <a:defRPr sz="850">
                          <a:solidFill>
                            <a:srgbClr val="E2E8F0"/>
                          </a:solidFill>
                          <a:latin typeface="Arial"/>
                        </a:defRPr>
                      </a:pPr>
                      <a:r>
                        <a:t>0.9835</a:t>
                      </a:r>
                    </a:p>
                  </a:txBody>
                  <a:tcPr anchor="ctr">
                    <a:solidFill>
                      <a:srgbClr val="0A111F"/>
                    </a:solidFill>
                  </a:tcPr>
                </a:tc>
                <a:tc>
                  <a:txBody>
                    <a:bodyPr/>
                    <a:lstStyle/>
                    <a:p>
                      <a:pPr algn="ctr">
                        <a:defRPr sz="850">
                          <a:solidFill>
                            <a:srgbClr val="E2E8F0"/>
                          </a:solidFill>
                          <a:latin typeface="Arial"/>
                        </a:defRPr>
                      </a:pPr>
                      <a:r>
                        <a:t>0.9840</a:t>
                      </a:r>
                    </a:p>
                  </a:txBody>
                  <a:tcPr anchor="ctr">
                    <a:solidFill>
                      <a:srgbClr val="0A111F"/>
                    </a:solidFill>
                  </a:tcPr>
                </a:tc>
                <a:tc>
                  <a:txBody>
                    <a:bodyPr/>
                    <a:lstStyle/>
                    <a:p>
                      <a:pPr algn="ctr">
                        <a:defRPr sz="850">
                          <a:solidFill>
                            <a:srgbClr val="E2E8F0"/>
                          </a:solidFill>
                          <a:latin typeface="Arial"/>
                        </a:defRPr>
                      </a:pPr>
                      <a:r>
                        <a:t>6,576</a:t>
                      </a:r>
                    </a:p>
                  </a:txBody>
                  <a:tcPr anchor="ctr">
                    <a:solidFill>
                      <a:srgbClr val="0A111F"/>
                    </a:solidFill>
                  </a:tcPr>
                </a:tc>
                <a:tc>
                  <a:txBody>
                    <a:bodyPr/>
                    <a:lstStyle/>
                    <a:p>
                      <a:pPr algn="ctr">
                        <a:defRPr sz="850">
                          <a:solidFill>
                            <a:srgbClr val="E2E8F0"/>
                          </a:solidFill>
                          <a:latin typeface="Arial"/>
                        </a:defRPr>
                      </a:pPr>
                      <a:r>
                        <a:t>109</a:t>
                      </a:r>
                    </a:p>
                  </a:txBody>
                  <a:tcPr anchor="ctr">
                    <a:solidFill>
                      <a:srgbClr val="0A111F"/>
                    </a:solidFill>
                  </a:tcPr>
                </a:tc>
                <a:tc>
                  <a:txBody>
                    <a:bodyPr/>
                    <a:lstStyle/>
                    <a:p>
                      <a:pPr algn="ctr">
                        <a:defRPr sz="850">
                          <a:solidFill>
                            <a:srgbClr val="E2E8F0"/>
                          </a:solidFill>
                          <a:latin typeface="Arial"/>
                        </a:defRPr>
                      </a:pPr>
                      <a:r>
                        <a:t>0.9834</a:t>
                      </a:r>
                    </a:p>
                  </a:txBody>
                  <a:tcPr anchor="ctr">
                    <a:solidFill>
                      <a:srgbClr val="0A111F"/>
                    </a:solidFill>
                  </a:tcPr>
                </a:tc>
              </a:tr>
              <a:tr h="457200">
                <a:tc>
                  <a:txBody>
                    <a:bodyPr/>
                    <a:lstStyle/>
                    <a:p>
                      <a:pPr algn="l">
                        <a:defRPr sz="850">
                          <a:solidFill>
                            <a:srgbClr val="FFFFFF"/>
                          </a:solidFill>
                          <a:latin typeface="Arial"/>
                        </a:defRPr>
                      </a:pPr>
                      <a:r>
                        <a:t>Multinomial Naive Bayes</a:t>
                      </a:r>
                    </a:p>
                  </a:txBody>
                  <a:tcPr anchor="ctr">
                    <a:solidFill>
                      <a:srgbClr val="0D1526"/>
                    </a:solidFill>
                  </a:tcPr>
                </a:tc>
                <a:tc>
                  <a:txBody>
                    <a:bodyPr/>
                    <a:lstStyle/>
                    <a:p>
                      <a:pPr algn="ctr">
                        <a:defRPr sz="850">
                          <a:solidFill>
                            <a:srgbClr val="E2E8F0"/>
                          </a:solidFill>
                          <a:latin typeface="Arial"/>
                        </a:defRPr>
                      </a:pPr>
                      <a:r>
                        <a:t>94.45%</a:t>
                      </a:r>
                    </a:p>
                  </a:txBody>
                  <a:tcPr anchor="ctr">
                    <a:solidFill>
                      <a:srgbClr val="0D1526"/>
                    </a:solidFill>
                  </a:tcPr>
                </a:tc>
                <a:tc>
                  <a:txBody>
                    <a:bodyPr/>
                    <a:lstStyle/>
                    <a:p>
                      <a:pPr algn="ctr">
                        <a:defRPr sz="850">
                          <a:solidFill>
                            <a:srgbClr val="E2E8F0"/>
                          </a:solidFill>
                          <a:latin typeface="Arial"/>
                        </a:defRPr>
                      </a:pPr>
                      <a:r>
                        <a:t>0.9444</a:t>
                      </a:r>
                    </a:p>
                  </a:txBody>
                  <a:tcPr anchor="ctr">
                    <a:solidFill>
                      <a:srgbClr val="0D1526"/>
                    </a:solidFill>
                  </a:tcPr>
                </a:tc>
                <a:tc>
                  <a:txBody>
                    <a:bodyPr/>
                    <a:lstStyle/>
                    <a:p>
                      <a:pPr algn="ctr">
                        <a:defRPr sz="850">
                          <a:solidFill>
                            <a:srgbClr val="E2E8F0"/>
                          </a:solidFill>
                          <a:latin typeface="Arial"/>
                        </a:defRPr>
                      </a:pPr>
                      <a:r>
                        <a:t>0.9443</a:t>
                      </a:r>
                    </a:p>
                  </a:txBody>
                  <a:tcPr anchor="ctr">
                    <a:solidFill>
                      <a:srgbClr val="0D1526"/>
                    </a:solidFill>
                  </a:tcPr>
                </a:tc>
                <a:tc>
                  <a:txBody>
                    <a:bodyPr/>
                    <a:lstStyle/>
                    <a:p>
                      <a:pPr algn="ctr">
                        <a:defRPr sz="850">
                          <a:solidFill>
                            <a:srgbClr val="E2E8F0"/>
                          </a:solidFill>
                          <a:latin typeface="Arial"/>
                        </a:defRPr>
                      </a:pPr>
                      <a:r>
                        <a:t>0.9445</a:t>
                      </a:r>
                    </a:p>
                  </a:txBody>
                  <a:tcPr anchor="ctr">
                    <a:solidFill>
                      <a:srgbClr val="0D1526"/>
                    </a:solidFill>
                  </a:tcPr>
                </a:tc>
                <a:tc>
                  <a:txBody>
                    <a:bodyPr/>
                    <a:lstStyle/>
                    <a:p>
                      <a:pPr algn="ctr">
                        <a:defRPr sz="850">
                          <a:solidFill>
                            <a:srgbClr val="E2E8F0"/>
                          </a:solidFill>
                          <a:latin typeface="Arial"/>
                        </a:defRPr>
                      </a:pPr>
                      <a:r>
                        <a:t>6,314</a:t>
                      </a:r>
                    </a:p>
                  </a:txBody>
                  <a:tcPr anchor="ctr">
                    <a:solidFill>
                      <a:srgbClr val="0D1526"/>
                    </a:solidFill>
                  </a:tcPr>
                </a:tc>
                <a:tc>
                  <a:txBody>
                    <a:bodyPr/>
                    <a:lstStyle/>
                    <a:p>
                      <a:pPr algn="ctr">
                        <a:defRPr sz="850">
                          <a:solidFill>
                            <a:srgbClr val="E2E8F0"/>
                          </a:solidFill>
                          <a:latin typeface="Arial"/>
                        </a:defRPr>
                      </a:pPr>
                      <a:r>
                        <a:t>371</a:t>
                      </a:r>
                    </a:p>
                  </a:txBody>
                  <a:tcPr anchor="ctr">
                    <a:solidFill>
                      <a:srgbClr val="0D1526"/>
                    </a:solidFill>
                  </a:tcPr>
                </a:tc>
                <a:tc>
                  <a:txBody>
                    <a:bodyPr/>
                    <a:lstStyle/>
                    <a:p>
                      <a:pPr algn="ctr">
                        <a:defRPr sz="850">
                          <a:solidFill>
                            <a:srgbClr val="E2E8F0"/>
                          </a:solidFill>
                          <a:latin typeface="Arial"/>
                        </a:defRPr>
                      </a:pPr>
                      <a:r>
                        <a:t>0.9455</a:t>
                      </a:r>
                    </a:p>
                  </a:txBody>
                  <a:tcPr anchor="ctr">
                    <a:solidFill>
                      <a:srgbClr val="0D1526"/>
                    </a:solidFill>
                  </a:tcPr>
                </a:tc>
              </a:tr>
            </a:tbl>
          </a:graphicData>
        </a:graphic>
      </p:graphicFrame>
      <p:sp>
        <p:nvSpPr>
          <p:cNvPr id="8" name="Rounded Rectangle 7"/>
          <p:cNvSpPr/>
          <p:nvPr/>
        </p:nvSpPr>
        <p:spPr>
          <a:xfrm>
            <a:off x="731520" y="3840480"/>
            <a:ext cx="2514600" cy="2468880"/>
          </a:xfrm>
          <a:prstGeom prst="roundRect">
            <a:avLst/>
          </a:prstGeom>
          <a:solidFill>
            <a:srgbClr val="111C33"/>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931920"/>
            <a:ext cx="2295144" cy="2286000"/>
          </a:xfrm>
          <a:prstGeom prst="rect">
            <a:avLst/>
          </a:prstGeom>
          <a:noFill/>
        </p:spPr>
        <p:txBody>
          <a:bodyPr wrap="square" lIns="0" rIns="0" tIns="0" bIns="0">
            <a:spAutoFit/>
          </a:bodyPr>
          <a:lstStyle/>
          <a:p>
            <a:pPr algn="ctr">
              <a:defRPr sz="2000" b="1">
                <a:solidFill>
                  <a:srgbClr val="00F2FE"/>
                </a:solidFill>
                <a:latin typeface="Arial"/>
              </a:defRPr>
            </a:pPr>
            <a:r>
              <a:t>100.0%</a:t>
            </a:r>
          </a:p>
          <a:p>
            <a:pPr algn="ctr">
              <a:defRPr sz="950" b="1">
                <a:solidFill>
                  <a:srgbClr val="FFFFFF"/>
                </a:solidFill>
                <a:latin typeface="Arial"/>
              </a:defRPr>
            </a:pPr>
            <a:r>
              <a:t>SIGN CONCORDANCE</a:t>
            </a:r>
          </a:p>
          <a:p>
            <a:pPr algn="ctr">
              <a:defRPr sz="800">
                <a:solidFill>
                  <a:srgbClr val="94A3B8"/>
                </a:solidFill>
                <a:latin typeface="Arial"/>
              </a:defRPr>
            </a:pPr>
            <a:r>
              <a:t>Directional agreement between LIME &amp; SHAP on shared salient tokens across all tested instances.</a:t>
            </a:r>
          </a:p>
        </p:txBody>
      </p:sp>
      <p:sp>
        <p:nvSpPr>
          <p:cNvPr id="10" name="Rounded Rectangle 9"/>
          <p:cNvSpPr/>
          <p:nvPr/>
        </p:nvSpPr>
        <p:spPr>
          <a:xfrm>
            <a:off x="3469233" y="3840480"/>
            <a:ext cx="2514600" cy="2468880"/>
          </a:xfrm>
          <a:prstGeom prst="roundRect">
            <a:avLst/>
          </a:prstGeom>
          <a:solidFill>
            <a:srgbClr val="111C33"/>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78961" y="3931920"/>
            <a:ext cx="2295144" cy="2286000"/>
          </a:xfrm>
          <a:prstGeom prst="rect">
            <a:avLst/>
          </a:prstGeom>
          <a:noFill/>
        </p:spPr>
        <p:txBody>
          <a:bodyPr wrap="square" lIns="0" rIns="0" tIns="0" bIns="0">
            <a:spAutoFit/>
          </a:bodyPr>
          <a:lstStyle/>
          <a:p>
            <a:pPr algn="ctr">
              <a:defRPr sz="2000" b="1">
                <a:solidFill>
                  <a:srgbClr val="A855F7"/>
                </a:solidFill>
                <a:latin typeface="Arial"/>
              </a:defRPr>
            </a:pPr>
            <a:r>
              <a:t>35–50%</a:t>
            </a:r>
          </a:p>
          <a:p>
            <a:pPr algn="ctr">
              <a:defRPr sz="950" b="1">
                <a:solidFill>
                  <a:srgbClr val="FFFFFF"/>
                </a:solidFill>
                <a:latin typeface="Arial"/>
              </a:defRPr>
            </a:pPr>
            <a:r>
              <a:t>FAITHFULNESS DROP</a:t>
            </a:r>
          </a:p>
          <a:p>
            <a:pPr algn="ctr">
              <a:defRPr sz="800">
                <a:solidFill>
                  <a:srgbClr val="94A3B8"/>
                </a:solidFill>
                <a:latin typeface="Arial"/>
              </a:defRPr>
            </a:pPr>
            <a:r>
              <a:t>Points lost when top-5 XAI tokens are masked (vs &lt;2% for random masking), proving causal attribution.</a:t>
            </a:r>
          </a:p>
        </p:txBody>
      </p:sp>
      <p:sp>
        <p:nvSpPr>
          <p:cNvPr id="12" name="Rounded Rectangle 11"/>
          <p:cNvSpPr/>
          <p:nvPr/>
        </p:nvSpPr>
        <p:spPr>
          <a:xfrm>
            <a:off x="6206946" y="3840480"/>
            <a:ext cx="2514600" cy="2468880"/>
          </a:xfrm>
          <a:prstGeom prst="roundRect">
            <a:avLst/>
          </a:prstGeom>
          <a:solidFill>
            <a:srgbClr val="111C33"/>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16674" y="3931920"/>
            <a:ext cx="2295144" cy="2286000"/>
          </a:xfrm>
          <a:prstGeom prst="rect">
            <a:avLst/>
          </a:prstGeom>
          <a:noFill/>
        </p:spPr>
        <p:txBody>
          <a:bodyPr wrap="square" lIns="0" rIns="0" tIns="0" bIns="0">
            <a:spAutoFit/>
          </a:bodyPr>
          <a:lstStyle/>
          <a:p>
            <a:pPr algn="ctr">
              <a:defRPr sz="2000" b="1">
                <a:solidFill>
                  <a:srgbClr val="F59E0B"/>
                </a:solidFill>
                <a:latin typeface="Arial"/>
              </a:defRPr>
            </a:pPr>
            <a:r>
              <a:t>50.00%</a:t>
            </a:r>
          </a:p>
          <a:p>
            <a:pPr algn="ctr">
              <a:defRPr sz="950" b="1">
                <a:solidFill>
                  <a:srgbClr val="FFFFFF"/>
                </a:solidFill>
                <a:latin typeface="Arial"/>
              </a:defRPr>
            </a:pPr>
            <a:r>
              <a:t>SYNTHETIC BASELINE</a:t>
            </a:r>
          </a:p>
          <a:p>
            <a:pPr algn="ctr">
              <a:defRPr sz="800">
                <a:solidFill>
                  <a:srgbClr val="94A3B8"/>
                </a:solidFill>
                <a:latin typeface="Arial"/>
              </a:defRPr>
            </a:pPr>
            <a:r>
              <a:t>Neutral accuracy on synthetic benchmark (N=50), verifying ZERO shortcut memorization of templates.</a:t>
            </a:r>
          </a:p>
        </p:txBody>
      </p:sp>
      <p:sp>
        <p:nvSpPr>
          <p:cNvPr id="14" name="Rounded Rectangle 13"/>
          <p:cNvSpPr/>
          <p:nvPr/>
        </p:nvSpPr>
        <p:spPr>
          <a:xfrm>
            <a:off x="8944659" y="3840480"/>
            <a:ext cx="2514600" cy="2468880"/>
          </a:xfrm>
          <a:prstGeom prst="roundRect">
            <a:avLst/>
          </a:prstGeom>
          <a:solidFill>
            <a:srgbClr val="111C33"/>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4387" y="3931920"/>
            <a:ext cx="2295144" cy="2286000"/>
          </a:xfrm>
          <a:prstGeom prst="rect">
            <a:avLst/>
          </a:prstGeom>
          <a:noFill/>
        </p:spPr>
        <p:txBody>
          <a:bodyPr wrap="square" lIns="0" rIns="0" tIns="0" bIns="0">
            <a:spAutoFit/>
          </a:bodyPr>
          <a:lstStyle/>
          <a:p>
            <a:pPr algn="ctr">
              <a:defRPr sz="2000" b="1">
                <a:solidFill>
                  <a:srgbClr val="22C55E"/>
                </a:solidFill>
                <a:latin typeface="Arial"/>
              </a:defRPr>
            </a:pPr>
            <a:r>
              <a:t>60 / 60</a:t>
            </a:r>
          </a:p>
          <a:p>
            <a:pPr algn="ctr">
              <a:defRPr sz="950" b="1">
                <a:solidFill>
                  <a:srgbClr val="FFFFFF"/>
                </a:solidFill>
                <a:latin typeface="Arial"/>
              </a:defRPr>
            </a:pPr>
            <a:r>
              <a:t>PASSING TESTS</a:t>
            </a:r>
          </a:p>
          <a:p>
            <a:pPr algn="ctr">
              <a:defRPr sz="800">
                <a:solidFill>
                  <a:srgbClr val="94A3B8"/>
                </a:solidFill>
                <a:latin typeface="Arial"/>
              </a:defRPr>
            </a:pPr>
            <a:r>
              <a:t>100% test pass rate across data loading, models, LIME/SHAP, NLI, OCR, and Streamlit pages in 12.36s.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rIns="0" tIns="0" bIns="0">
            <a:spAutoFit/>
          </a:bodyPr>
          <a:lstStyle/>
          <a:p>
            <a:pPr>
              <a:defRPr sz="950" b="1">
                <a:solidFill>
                  <a:srgbClr val="00F2FE"/>
                </a:solidFill>
                <a:latin typeface="Arial"/>
              </a:defRPr>
            </a:pPr>
            <a:r>
              <a:t>08 • CONCLUSION</a:t>
            </a:r>
          </a:p>
        </p:txBody>
      </p:sp>
      <p:sp>
        <p:nvSpPr>
          <p:cNvPr id="4" name="TextBox 3"/>
          <p:cNvSpPr txBox="1"/>
          <p:nvPr/>
        </p:nvSpPr>
        <p:spPr>
          <a:xfrm>
            <a:off x="731520" y="640080"/>
            <a:ext cx="10728655" cy="457200"/>
          </a:xfrm>
          <a:prstGeom prst="rect">
            <a:avLst/>
          </a:prstGeom>
          <a:noFill/>
        </p:spPr>
        <p:txBody>
          <a:bodyPr wrap="square" lIns="0" rIns="0" tIns="0" bIns="0">
            <a:spAutoFit/>
          </a:bodyPr>
          <a:lstStyle/>
          <a:p>
            <a:pPr>
              <a:defRPr sz="1900" b="1">
                <a:solidFill>
                  <a:srgbClr val="FFFFFF"/>
                </a:solidFill>
                <a:latin typeface="Arial"/>
              </a:defRPr>
            </a:pPr>
            <a:r>
              <a:t>Project Contributions &amp; Epistemic Governance</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050">
                <a:solidFill>
                  <a:srgbClr val="94A3B8"/>
                </a:solidFill>
                <a:latin typeface="Arial"/>
              </a:defRPr>
            </a:pPr>
            <a:r>
              <a:t>Transforming Opaque Black-Box AI into Transparent, Verifiable, and Accountable Intelligence</a:t>
            </a:r>
          </a:p>
        </p:txBody>
      </p:sp>
      <p:sp>
        <p:nvSpPr>
          <p:cNvPr id="6" name="Rectangle 5"/>
          <p:cNvSpPr/>
          <p:nvPr/>
        </p:nvSpPr>
        <p:spPr>
          <a:xfrm>
            <a:off x="731520" y="1389888"/>
            <a:ext cx="10728655" cy="18288"/>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3383280" cy="3657600"/>
          </a:xfrm>
          <a:prstGeom prst="roundRect">
            <a:avLst/>
          </a:prstGeom>
          <a:solidFill>
            <a:srgbClr val="0D15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3017520" cy="3291840"/>
          </a:xfrm>
          <a:prstGeom prst="rect">
            <a:avLst/>
          </a:prstGeom>
          <a:noFill/>
        </p:spPr>
        <p:txBody>
          <a:bodyPr wrap="square" lIns="0" rIns="0" tIns="0" bIns="0">
            <a:spAutoFit/>
          </a:bodyPr>
          <a:lstStyle/>
          <a:p>
            <a:pPr>
              <a:defRPr sz="850" b="1">
                <a:solidFill>
                  <a:srgbClr val="00F2FE"/>
                </a:solidFill>
                <a:latin typeface="Arial"/>
              </a:defRPr>
            </a:pPr>
            <a:r>
              <a:t>CONTRIBUTION 01</a:t>
            </a:r>
          </a:p>
          <a:p>
            <a:pPr>
              <a:defRPr sz="1300" b="1">
                <a:solidFill>
                  <a:srgbClr val="FFFFFF"/>
                </a:solidFill>
                <a:latin typeface="Arial"/>
              </a:defRPr>
            </a:pPr>
            <a:r>
              <a:t>The AI Black Box Opened</a:t>
            </a:r>
          </a:p>
          <a:p/>
          <a:p>
            <a:pPr>
              <a:defRPr sz="950">
                <a:solidFill>
                  <a:srgbClr val="E2E8F0"/>
                </a:solidFill>
                <a:latin typeface="Arial"/>
              </a:defRPr>
            </a:pPr>
            <a:r>
              <a:t>•  Integrated simultaneous LIME and SHAP feature attributions directly tied to calibrated margins.</a:t>
            </a:r>
          </a:p>
          <a:p>
            <a:pPr>
              <a:defRPr sz="950">
                <a:solidFill>
                  <a:srgbClr val="E2E8F0"/>
                </a:solidFill>
                <a:latin typeface="Arial"/>
              </a:defRPr>
            </a:pPr>
            <a:r>
              <a:t>•  100% directional sign concordance provides consistent token-level explanations.</a:t>
            </a:r>
          </a:p>
          <a:p>
            <a:pPr>
              <a:defRPr sz="950">
                <a:solidFill>
                  <a:srgbClr val="E2E8F0"/>
                </a:solidFill>
                <a:latin typeface="Arial"/>
              </a:defRPr>
            </a:pPr>
            <a:r>
              <a:t>•  Replaced blind algorithmic scores with human-interpretable rationale for news triage.</a:t>
            </a:r>
          </a:p>
        </p:txBody>
      </p:sp>
      <p:sp>
        <p:nvSpPr>
          <p:cNvPr id="9" name="Rounded Rectangle 8"/>
          <p:cNvSpPr/>
          <p:nvPr/>
        </p:nvSpPr>
        <p:spPr>
          <a:xfrm>
            <a:off x="4389120" y="1645920"/>
            <a:ext cx="3383280" cy="3657600"/>
          </a:xfrm>
          <a:prstGeom prst="roundRect">
            <a:avLst/>
          </a:prstGeom>
          <a:solidFill>
            <a:srgbClr val="0D15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828800"/>
            <a:ext cx="3017520" cy="3291840"/>
          </a:xfrm>
          <a:prstGeom prst="rect">
            <a:avLst/>
          </a:prstGeom>
          <a:noFill/>
        </p:spPr>
        <p:txBody>
          <a:bodyPr wrap="square" lIns="0" rIns="0" tIns="0" bIns="0">
            <a:spAutoFit/>
          </a:bodyPr>
          <a:lstStyle/>
          <a:p>
            <a:pPr>
              <a:defRPr sz="850" b="1">
                <a:solidFill>
                  <a:srgbClr val="14B8A6"/>
                </a:solidFill>
                <a:latin typeface="Arial"/>
              </a:defRPr>
            </a:pPr>
            <a:r>
              <a:t>CONTRIBUTION 02</a:t>
            </a:r>
          </a:p>
          <a:p>
            <a:pPr>
              <a:defRPr sz="1300" b="1">
                <a:solidFill>
                  <a:srgbClr val="FFFFFF"/>
                </a:solidFill>
                <a:latin typeface="Arial"/>
              </a:defRPr>
            </a:pPr>
            <a:r>
              <a:t>Dataset Leakage Eradicated</a:t>
            </a:r>
          </a:p>
          <a:p/>
          <a:p>
            <a:pPr>
              <a:defRPr sz="950">
                <a:solidFill>
                  <a:srgbClr val="E2E8F0"/>
                </a:solidFill>
                <a:latin typeface="Arial"/>
              </a:defRPr>
            </a:pPr>
            <a:r>
              <a:t>•  Replaced inadequate synthetic benchmarks with the 44,267-article ISOT corpus.</a:t>
            </a:r>
          </a:p>
          <a:p>
            <a:pPr>
              <a:defRPr sz="950">
                <a:solidFill>
                  <a:srgbClr val="E2E8F0"/>
                </a:solidFill>
                <a:latin typeface="Arial"/>
              </a:defRPr>
            </a:pPr>
            <a:r>
              <a:t>•  Engineered group-aware MD5 body clustering guaranteeing zero cross-split duplication.</a:t>
            </a:r>
          </a:p>
          <a:p>
            <a:pPr>
              <a:defRPr sz="950">
                <a:solidFill>
                  <a:srgbClr val="E2E8F0"/>
                </a:solidFill>
                <a:latin typeface="Arial"/>
              </a:defRPr>
            </a:pPr>
            <a:r>
              <a:t>•  Purged wire-service headers, ensuring models learn authentic linguistic deception.</a:t>
            </a:r>
          </a:p>
        </p:txBody>
      </p:sp>
      <p:sp>
        <p:nvSpPr>
          <p:cNvPr id="11" name="Rounded Rectangle 10"/>
          <p:cNvSpPr/>
          <p:nvPr/>
        </p:nvSpPr>
        <p:spPr>
          <a:xfrm>
            <a:off x="8046720" y="1645920"/>
            <a:ext cx="3383280" cy="3657600"/>
          </a:xfrm>
          <a:prstGeom prst="roundRect">
            <a:avLst/>
          </a:prstGeom>
          <a:solidFill>
            <a:srgbClr val="0D15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828800"/>
            <a:ext cx="3017520" cy="3291840"/>
          </a:xfrm>
          <a:prstGeom prst="rect">
            <a:avLst/>
          </a:prstGeom>
          <a:noFill/>
        </p:spPr>
        <p:txBody>
          <a:bodyPr wrap="square" lIns="0" rIns="0" tIns="0" bIns="0">
            <a:spAutoFit/>
          </a:bodyPr>
          <a:lstStyle/>
          <a:p>
            <a:pPr>
              <a:defRPr sz="850" b="1">
                <a:solidFill>
                  <a:srgbClr val="A855F7"/>
                </a:solidFill>
                <a:latin typeface="Arial"/>
              </a:defRPr>
            </a:pPr>
            <a:r>
              <a:t>CONTRIBUTION 03</a:t>
            </a:r>
          </a:p>
          <a:p>
            <a:pPr>
              <a:defRPr sz="1300" b="1">
                <a:solidFill>
                  <a:srgbClr val="FFFFFF"/>
                </a:solidFill>
                <a:latin typeface="Arial"/>
              </a:defRPr>
            </a:pPr>
            <a:r>
              <a:t>Epistemic Modesty by Design</a:t>
            </a:r>
          </a:p>
          <a:p/>
          <a:p>
            <a:pPr>
              <a:defRPr sz="950">
                <a:solidFill>
                  <a:srgbClr val="E2E8F0"/>
                </a:solidFill>
                <a:latin typeface="Arial"/>
              </a:defRPr>
            </a:pPr>
            <a:r>
              <a:t>•  Positioned strictly as an editorial assistive co-pilot rather than an infallible truth arbiter.</a:t>
            </a:r>
          </a:p>
          <a:p>
            <a:pPr>
              <a:defRPr sz="950">
                <a:solidFill>
                  <a:srgbClr val="E2E8F0"/>
                </a:solidFill>
                <a:latin typeface="Arial"/>
              </a:defRPr>
            </a:pPr>
            <a:r>
              <a:t>•  Explicitly distinguishes stylometric probability from external factual verification.</a:t>
            </a:r>
          </a:p>
          <a:p>
            <a:pPr>
              <a:defRPr sz="950">
                <a:solidFill>
                  <a:srgbClr val="E2E8F0"/>
                </a:solidFill>
                <a:latin typeface="Arial"/>
              </a:defRPr>
            </a:pPr>
            <a:r>
              <a:t>•  Integrates DeBERTa-v3 cross-encoder NLI to ground claims in empirical evidence.</a:t>
            </a:r>
          </a:p>
        </p:txBody>
      </p:sp>
      <p:sp>
        <p:nvSpPr>
          <p:cNvPr id="13" name="Rounded Rectangle 12"/>
          <p:cNvSpPr/>
          <p:nvPr/>
        </p:nvSpPr>
        <p:spPr>
          <a:xfrm>
            <a:off x="731520" y="5486400"/>
            <a:ext cx="10728655" cy="868680"/>
          </a:xfrm>
          <a:prstGeom prst="roundRect">
            <a:avLst/>
          </a:prstGeom>
          <a:solidFill>
            <a:srgbClr val="111C33"/>
          </a:solidFill>
          <a:ln w="1524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596128"/>
            <a:ext cx="10362895" cy="640080"/>
          </a:xfrm>
          <a:prstGeom prst="rect">
            <a:avLst/>
          </a:prstGeom>
          <a:noFill/>
        </p:spPr>
        <p:txBody>
          <a:bodyPr wrap="square" lIns="0" rIns="0" tIns="0" bIns="0">
            <a:spAutoFit/>
          </a:bodyPr>
          <a:lstStyle/>
          <a:p>
            <a:pPr>
              <a:defRPr sz="950" b="1">
                <a:solidFill>
                  <a:srgbClr val="00F2FE"/>
                </a:solidFill>
                <a:latin typeface="Arial"/>
              </a:defRPr>
            </a:pPr>
            <a:r>
              <a:t>CORE PROJECT PHILOSOPHY: INTELLIGENCE BEYOND THE HEADLINE</a:t>
            </a:r>
          </a:p>
          <a:p>
            <a:pPr>
              <a:defRPr sz="1100" i="1">
                <a:solidFill>
                  <a:srgbClr val="FFFFFF"/>
                </a:solidFill>
                <a:latin typeface="Arial"/>
              </a:defRPr>
            </a:pPr>
            <a:r>
              <a:t>"Artificial Intelligence in journalism should explain, corroborate, and assist — never dictate truth in silence."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rIns="0" tIns="0" bIns="0">
            <a:spAutoFit/>
          </a:bodyPr>
          <a:lstStyle/>
          <a:p>
            <a:pPr>
              <a:defRPr sz="950" b="1">
                <a:solidFill>
                  <a:srgbClr val="00F2FE"/>
                </a:solidFill>
                <a:latin typeface="Arial"/>
              </a:defRPr>
            </a:pPr>
            <a:r>
              <a:t>09 • FUTURE SCOPE</a:t>
            </a:r>
          </a:p>
        </p:txBody>
      </p:sp>
      <p:sp>
        <p:nvSpPr>
          <p:cNvPr id="4" name="TextBox 3"/>
          <p:cNvSpPr txBox="1"/>
          <p:nvPr/>
        </p:nvSpPr>
        <p:spPr>
          <a:xfrm>
            <a:off x="731520" y="640080"/>
            <a:ext cx="10728655" cy="457200"/>
          </a:xfrm>
          <a:prstGeom prst="rect">
            <a:avLst/>
          </a:prstGeom>
          <a:noFill/>
        </p:spPr>
        <p:txBody>
          <a:bodyPr wrap="square" lIns="0" rIns="0" tIns="0" bIns="0">
            <a:spAutoFit/>
          </a:bodyPr>
          <a:lstStyle/>
          <a:p>
            <a:pPr>
              <a:defRPr sz="1900" b="1">
                <a:solidFill>
                  <a:srgbClr val="FFFFFF"/>
                </a:solidFill>
                <a:latin typeface="Arial"/>
              </a:defRPr>
            </a:pPr>
            <a:r>
              <a:t>Current Limitations &amp; Strategic Development Roadmap</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050">
                <a:solidFill>
                  <a:srgbClr val="94A3B8"/>
                </a:solidFill>
                <a:latin typeface="Arial"/>
              </a:defRPr>
            </a:pPr>
            <a:r>
              <a:t>Honest Epistemic Boundaries and Next-Generation Architectural Extensions</a:t>
            </a:r>
          </a:p>
        </p:txBody>
      </p:sp>
      <p:sp>
        <p:nvSpPr>
          <p:cNvPr id="6" name="Rectangle 5"/>
          <p:cNvSpPr/>
          <p:nvPr/>
        </p:nvSpPr>
        <p:spPr>
          <a:xfrm>
            <a:off x="731520" y="1389888"/>
            <a:ext cx="10728655" cy="18288"/>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5212080" cy="4663440"/>
          </a:xfrm>
          <a:prstGeom prst="roundRect">
            <a:avLst/>
          </a:prstGeom>
          <a:solidFill>
            <a:srgbClr val="0D1526"/>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846320" cy="4297680"/>
          </a:xfrm>
          <a:prstGeom prst="rect">
            <a:avLst/>
          </a:prstGeom>
          <a:noFill/>
        </p:spPr>
        <p:txBody>
          <a:bodyPr wrap="square" lIns="0" rIns="0" tIns="0" bIns="0">
            <a:spAutoFit/>
          </a:bodyPr>
          <a:lstStyle/>
          <a:p>
            <a:pPr>
              <a:defRPr sz="1100" b="1">
                <a:solidFill>
                  <a:srgbClr val="F59E0B"/>
                </a:solidFill>
                <a:latin typeface="Arial"/>
              </a:defRPr>
            </a:pPr>
            <a:r>
              <a:t>CURRENT TECHNICAL LIMITATIONS</a:t>
            </a:r>
          </a:p>
          <a:p>
            <a:br/>
            <a:pPr>
              <a:defRPr sz="950" b="1">
                <a:solidFill>
                  <a:srgbClr val="FFFFFF"/>
                </a:solidFill>
                <a:latin typeface="Arial"/>
              </a:defRPr>
            </a:pPr>
            <a:r>
              <a:t>Stylometry Boundary:</a:t>
            </a:r>
          </a:p>
          <a:p>
            <a:pPr>
              <a:defRPr sz="850">
                <a:solidFill>
                  <a:srgbClr val="E2E8F0"/>
                </a:solidFill>
                <a:latin typeface="Arial"/>
              </a:defRPr>
            </a:pPr>
            <a:r>
              <a:t>Cannot verify unprecedented or novel factual events without corresponding reference evidence in the knowledge base.</a:t>
            </a:r>
          </a:p>
          <a:p>
            <a:br/>
            <a:pPr>
              <a:defRPr sz="950" b="1">
                <a:solidFill>
                  <a:srgbClr val="FFFFFF"/>
                </a:solidFill>
                <a:latin typeface="Arial"/>
              </a:defRPr>
            </a:pPr>
            <a:r>
              <a:t>English Language Constraint:</a:t>
            </a:r>
          </a:p>
          <a:p>
            <a:pPr>
              <a:defRPr sz="850">
                <a:solidFill>
                  <a:srgbClr val="E2E8F0"/>
                </a:solidFill>
                <a:latin typeface="Arial"/>
              </a:defRPr>
            </a:pPr>
            <a:r>
              <a:t>The current TF-IDF vocabulary and DeBERTa cross-encoder are optimized exclusively for English prose.</a:t>
            </a:r>
          </a:p>
          <a:p>
            <a:br/>
            <a:pPr>
              <a:defRPr sz="950" b="1">
                <a:solidFill>
                  <a:srgbClr val="FFFFFF"/>
                </a:solidFill>
                <a:latin typeface="Arial"/>
              </a:defRPr>
            </a:pPr>
            <a:r>
              <a:t>OCR Compression Sensitivity:</a:t>
            </a:r>
          </a:p>
          <a:p>
            <a:pPr>
              <a:defRPr sz="850">
                <a:solidFill>
                  <a:srgbClr val="E2E8F0"/>
                </a:solidFill>
                <a:latin typeface="Arial"/>
              </a:defRPr>
            </a:pPr>
            <a:r>
              <a:t>Tesseract OCR accuracy degrades when encountering heavily compressed or blurry social media screenshots.</a:t>
            </a:r>
          </a:p>
          <a:p>
            <a:br/>
            <a:pPr>
              <a:defRPr sz="950" b="1">
                <a:solidFill>
                  <a:srgbClr val="FFFFFF"/>
                </a:solidFill>
                <a:latin typeface="Arial"/>
              </a:defRPr>
            </a:pPr>
            <a:r>
              <a:t>Temporal Concept Drift:</a:t>
            </a:r>
          </a:p>
          <a:p>
            <a:pPr>
              <a:defRPr sz="850">
                <a:solidFill>
                  <a:srgbClr val="E2E8F0"/>
                </a:solidFill>
                <a:latin typeface="Arial"/>
              </a:defRPr>
            </a:pPr>
            <a:r>
              <a:t>Political and cultural vocabularies evolve over time, requiring periodic retraining on emerging news corpora.</a:t>
            </a:r>
          </a:p>
        </p:txBody>
      </p:sp>
      <p:sp>
        <p:nvSpPr>
          <p:cNvPr id="9" name="Rounded Rectangle 8"/>
          <p:cNvSpPr/>
          <p:nvPr/>
        </p:nvSpPr>
        <p:spPr>
          <a:xfrm>
            <a:off x="6248095" y="1645920"/>
            <a:ext cx="5212080" cy="4663440"/>
          </a:xfrm>
          <a:prstGeom prst="roundRect">
            <a:avLst/>
          </a:prstGeom>
          <a:solidFill>
            <a:srgbClr val="0D1526"/>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1828800"/>
            <a:ext cx="4846320" cy="4297680"/>
          </a:xfrm>
          <a:prstGeom prst="rect">
            <a:avLst/>
          </a:prstGeom>
          <a:noFill/>
        </p:spPr>
        <p:txBody>
          <a:bodyPr wrap="square" lIns="0" rIns="0" tIns="0" bIns="0">
            <a:spAutoFit/>
          </a:bodyPr>
          <a:lstStyle/>
          <a:p>
            <a:pPr>
              <a:defRPr sz="1100" b="1">
                <a:solidFill>
                  <a:srgbClr val="00F2FE"/>
                </a:solidFill>
                <a:latin typeface="Arial"/>
              </a:defRPr>
            </a:pPr>
            <a:r>
              <a:t>STRATEGIC FUTURE ROADMAP</a:t>
            </a:r>
          </a:p>
          <a:p>
            <a:br/>
            <a:pPr>
              <a:defRPr sz="950" b="1">
                <a:solidFill>
                  <a:srgbClr val="FFFFFF"/>
                </a:solidFill>
                <a:latin typeface="Arial"/>
              </a:defRPr>
            </a:pPr>
            <a:r>
              <a:t>Phase 1: Multilingual &amp; Multimodal Vision:</a:t>
            </a:r>
          </a:p>
          <a:p>
            <a:pPr>
              <a:defRPr sz="850">
                <a:solidFill>
                  <a:srgbClr val="E2E8F0"/>
                </a:solidFill>
                <a:latin typeface="Arial"/>
              </a:defRPr>
            </a:pPr>
            <a:r>
              <a:t>Integrate mDeBERTa and XLM-RoBERTa for regional languages alongside CLIP vision-language transformers for deepfake image analysis.</a:t>
            </a:r>
          </a:p>
          <a:p>
            <a:br/>
            <a:pPr>
              <a:defRPr sz="950" b="1">
                <a:solidFill>
                  <a:srgbClr val="FFFFFF"/>
                </a:solidFill>
                <a:latin typeface="Arial"/>
              </a:defRPr>
            </a:pPr>
            <a:r>
              <a:t>Phase 2: Live Autonomous Web &amp; KG RAG:</a:t>
            </a:r>
          </a:p>
          <a:p>
            <a:pPr>
              <a:defRPr sz="850">
                <a:solidFill>
                  <a:srgbClr val="E2E8F0"/>
                </a:solidFill>
                <a:latin typeface="Arial"/>
              </a:defRPr>
            </a:pPr>
            <a:r>
              <a:t>Connect evidence retrieval to live Knowledge Graphs (Wikidata, DBpedia) and real-time syndication feeds via Google Fact Check Tools API.</a:t>
            </a:r>
          </a:p>
          <a:p>
            <a:br/>
            <a:pPr>
              <a:defRPr sz="950" b="1">
                <a:solidFill>
                  <a:srgbClr val="FFFFFF"/>
                </a:solidFill>
                <a:latin typeface="Arial"/>
              </a:defRPr>
            </a:pPr>
            <a:r>
              <a:t>Phase 3: Conformal Prediction Bounds:</a:t>
            </a:r>
          </a:p>
          <a:p>
            <a:pPr>
              <a:defRPr sz="850">
                <a:solidFill>
                  <a:srgbClr val="E2E8F0"/>
                </a:solidFill>
                <a:latin typeface="Arial"/>
              </a:defRPr>
            </a:pPr>
            <a:r>
              <a:t>Implement conformal prediction to generate mathematically guaranteed coverage intervals rather than point estimates.</a:t>
            </a:r>
          </a:p>
          <a:p>
            <a:br/>
            <a:pPr>
              <a:defRPr sz="950" b="1">
                <a:solidFill>
                  <a:srgbClr val="FFFFFF"/>
                </a:solidFill>
                <a:latin typeface="Arial"/>
              </a:defRPr>
            </a:pPr>
            <a:r>
              <a:t>Phase 4: Atomic Claim Decomposition:</a:t>
            </a:r>
          </a:p>
          <a:p>
            <a:pPr>
              <a:defRPr sz="850">
                <a:solidFill>
                  <a:srgbClr val="E2E8F0"/>
                </a:solidFill>
                <a:latin typeface="Arial"/>
              </a:defRPr>
            </a:pPr>
            <a:r>
              <a:t>Deploy Open Information Extraction (OpenIE) to segment complex articles into atomic tuples (Subject, Predicate, Object) verified independently.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rIns="0" tIns="0" bIns="0">
            <a:spAutoFit/>
          </a:bodyPr>
          <a:lstStyle/>
          <a:p>
            <a:pPr>
              <a:defRPr sz="950" b="1">
                <a:solidFill>
                  <a:srgbClr val="00F2FE"/>
                </a:solidFill>
                <a:latin typeface="Arial"/>
              </a:defRPr>
            </a:pPr>
            <a:r>
              <a:t>10 • REFERENCES</a:t>
            </a:r>
          </a:p>
        </p:txBody>
      </p:sp>
      <p:sp>
        <p:nvSpPr>
          <p:cNvPr id="4" name="TextBox 3"/>
          <p:cNvSpPr txBox="1"/>
          <p:nvPr/>
        </p:nvSpPr>
        <p:spPr>
          <a:xfrm>
            <a:off x="731520" y="640080"/>
            <a:ext cx="10728655" cy="457200"/>
          </a:xfrm>
          <a:prstGeom prst="rect">
            <a:avLst/>
          </a:prstGeom>
          <a:noFill/>
        </p:spPr>
        <p:txBody>
          <a:bodyPr wrap="square" lIns="0" rIns="0" tIns="0" bIns="0">
            <a:spAutoFit/>
          </a:bodyPr>
          <a:lstStyle/>
          <a:p>
            <a:pPr>
              <a:defRPr sz="1900" b="1">
                <a:solidFill>
                  <a:srgbClr val="FFFFFF"/>
                </a:solidFill>
                <a:latin typeface="Arial"/>
              </a:defRPr>
            </a:pPr>
            <a:r>
              <a:t>Authoritative References &amp; Technological Foundations</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050">
                <a:solidFill>
                  <a:srgbClr val="94A3B8"/>
                </a:solidFill>
                <a:latin typeface="Arial"/>
              </a:defRPr>
            </a:pPr>
            <a:r>
              <a:t>Peer-Reviewed Academic Literature, Model Foundations &amp; Open-Source Frameworks</a:t>
            </a:r>
          </a:p>
        </p:txBody>
      </p:sp>
      <p:sp>
        <p:nvSpPr>
          <p:cNvPr id="6" name="Rectangle 5"/>
          <p:cNvSpPr/>
          <p:nvPr/>
        </p:nvSpPr>
        <p:spPr>
          <a:xfrm>
            <a:off x="731520" y="1389888"/>
            <a:ext cx="10728655" cy="18288"/>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5212080" cy="4663440"/>
          </a:xfrm>
          <a:prstGeom prst="roundRect">
            <a:avLst/>
          </a:prstGeom>
          <a:solidFill>
            <a:srgbClr val="0D15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846320" cy="4297680"/>
          </a:xfrm>
          <a:prstGeom prst="rect">
            <a:avLst/>
          </a:prstGeom>
          <a:noFill/>
        </p:spPr>
        <p:txBody>
          <a:bodyPr wrap="square" lIns="0" rIns="0" tIns="0" bIns="0">
            <a:spAutoFit/>
          </a:bodyPr>
          <a:lstStyle/>
          <a:p>
            <a:pPr>
              <a:defRPr sz="1000" b="1">
                <a:solidFill>
                  <a:srgbClr val="00F2FE"/>
                </a:solidFill>
                <a:latin typeface="Arial"/>
              </a:defRPr>
            </a:pPr>
            <a:r>
              <a:t>PEER-REVIEWED RESEARCH LITERATURE</a:t>
            </a:r>
          </a:p>
          <a:p>
            <a:br/>
            <a:pPr>
              <a:defRPr sz="800">
                <a:solidFill>
                  <a:srgbClr val="E2E8F0"/>
                </a:solidFill>
                <a:latin typeface="Arial"/>
              </a:defRPr>
            </a:pPr>
            <a:r>
              <a:t>• Ribeiro, M. T., Singh, S., &amp; Guestrin, C. (2016). 'Why Should I Trust You?': Explaining the Predictions of Any Classifier. ACM SIGKDD (KDD '16), pp. 1135–1144. (LIME Foundation)</a:t>
            </a:r>
          </a:p>
          <a:p>
            <a:br/>
            <a:pPr>
              <a:defRPr sz="800">
                <a:solidFill>
                  <a:srgbClr val="E2E8F0"/>
                </a:solidFill>
                <a:latin typeface="Arial"/>
              </a:defRPr>
            </a:pPr>
            <a:r>
              <a:t>• Lundberg, S. M., &amp; Lee, S.-I. (2017). A Unified Approach to Interpreting Model Predictions. Advances in Neural Information Processing Systems (NeurIPS 30), pp. 4765–4774. (SHAP)</a:t>
            </a:r>
          </a:p>
          <a:p>
            <a:br/>
            <a:pPr>
              <a:defRPr sz="800">
                <a:solidFill>
                  <a:srgbClr val="E2E8F0"/>
                </a:solidFill>
                <a:latin typeface="Arial"/>
              </a:defRPr>
            </a:pPr>
            <a:r>
              <a:t>• He, P., Gao, J., &amp; Chen, W. (2021). DeBERTaV3: Improving DeBERTa using ELECTRA-Style Pre-Training with Gradient-Disentangled Embedding. arXiv:2111.09543. (NLI Backbone)</a:t>
            </a:r>
          </a:p>
          <a:p>
            <a:br/>
            <a:pPr>
              <a:defRPr sz="800">
                <a:solidFill>
                  <a:srgbClr val="E2E8F0"/>
                </a:solidFill>
                <a:latin typeface="Arial"/>
              </a:defRPr>
            </a:pPr>
            <a:r>
              <a:t>• Ahmed, H., Traore, I., &amp; Saad, S. (2018). Detecting opinion spams and fake news using text classification. Security and Privacy, 1(1), e9. (ISOT Corpus Provenance)</a:t>
            </a:r>
          </a:p>
          <a:p>
            <a:br/>
            <a:pPr>
              <a:defRPr sz="800">
                <a:solidFill>
                  <a:srgbClr val="E2E8F0"/>
                </a:solidFill>
                <a:latin typeface="Arial"/>
              </a:defRPr>
            </a:pPr>
            <a:r>
              <a:t>• Platt, J. (1999). Probabilistic Outputs for Support Vector Machines and Comparisons to Regularized Likelihood Methods. Advances in Large Margin Classifiers, pp. 61–74.</a:t>
            </a:r>
          </a:p>
        </p:txBody>
      </p:sp>
      <p:sp>
        <p:nvSpPr>
          <p:cNvPr id="9" name="Rounded Rectangle 8"/>
          <p:cNvSpPr/>
          <p:nvPr/>
        </p:nvSpPr>
        <p:spPr>
          <a:xfrm>
            <a:off x="6248095" y="1645920"/>
            <a:ext cx="5212080" cy="4663440"/>
          </a:xfrm>
          <a:prstGeom prst="roundRect">
            <a:avLst/>
          </a:prstGeom>
          <a:solidFill>
            <a:srgbClr val="0D15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1828800"/>
            <a:ext cx="4846320" cy="4297680"/>
          </a:xfrm>
          <a:prstGeom prst="rect">
            <a:avLst/>
          </a:prstGeom>
          <a:noFill/>
        </p:spPr>
        <p:txBody>
          <a:bodyPr wrap="square" lIns="0" rIns="0" tIns="0" bIns="0">
            <a:spAutoFit/>
          </a:bodyPr>
          <a:lstStyle/>
          <a:p>
            <a:pPr>
              <a:defRPr sz="1000" b="1">
                <a:solidFill>
                  <a:srgbClr val="A855F7"/>
                </a:solidFill>
                <a:latin typeface="Arial"/>
              </a:defRPr>
            </a:pPr>
            <a:r>
              <a:t>ALGORITHMIC &amp; SOFTWARE FOUNDATIONS</a:t>
            </a:r>
          </a:p>
          <a:p>
            <a:br/>
            <a:pPr>
              <a:defRPr sz="800">
                <a:solidFill>
                  <a:srgbClr val="E2E8F0"/>
                </a:solidFill>
                <a:latin typeface="Arial"/>
              </a:defRPr>
            </a:pPr>
            <a:r>
              <a:t>• Auer, P., Cesa-Bianchi, N., &amp; Fischer, P. (2002). Finite-time Analysis of the Multiarmed Bandit Problem. Machine Learning, 47(2–3), pp. 235–256. (UCB1 Bandit Algorithm)</a:t>
            </a:r>
          </a:p>
          <a:p>
            <a:br/>
            <a:pPr>
              <a:defRPr sz="800">
                <a:solidFill>
                  <a:srgbClr val="E2E8F0"/>
                </a:solidFill>
                <a:latin typeface="Arial"/>
              </a:defRPr>
            </a:pPr>
            <a:r>
              <a:t>• Pedregosa, F., et al. (2011). Scikit-learn: Machine Learning in Python. Journal of Machine Learning Research (JMLR), 12, pp. 2825–2830. (Classifier Pipelines &amp; Platt Scaling)</a:t>
            </a:r>
          </a:p>
          <a:p>
            <a:br/>
            <a:pPr>
              <a:defRPr sz="800">
                <a:solidFill>
                  <a:srgbClr val="E2E8F0"/>
                </a:solidFill>
                <a:latin typeface="Arial"/>
              </a:defRPr>
            </a:pPr>
            <a:r>
              <a:t>• Smith, R. (2007). An Overview of the Tesseract OCR Engine. Ninth International Conference on Document Analysis and Recognition (ICDAR 2007), IEEE, pp. 629–633.</a:t>
            </a:r>
          </a:p>
          <a:p>
            <a:br/>
            <a:pPr>
              <a:defRPr sz="800">
                <a:solidFill>
                  <a:srgbClr val="E2E8F0"/>
                </a:solidFill>
                <a:latin typeface="Arial"/>
              </a:defRPr>
            </a:pPr>
            <a:r>
              <a:t>• Devlin, J., et al. (2019). BERT: Pre-training of Deep Bidirectional Transformers for Language Understanding. NAACL-HLT 2019, pp. 4171–4186.</a:t>
            </a:r>
          </a:p>
          <a:p>
            <a:br/>
            <a:pPr>
              <a:defRPr sz="800">
                <a:solidFill>
                  <a:srgbClr val="E2E8F0"/>
                </a:solidFill>
                <a:latin typeface="Arial"/>
              </a:defRPr>
            </a:pPr>
            <a:r>
              <a:t>• Streamlit Inc. (2024). Streamlit: The Fastest Way to Build Data Applications. https://streamlit.io.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